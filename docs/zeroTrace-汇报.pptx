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77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6" r:id="rId20"/>
    <p:sldId id="272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7"/>
  </p:normalViewPr>
  <p:slideViewPr>
    <p:cSldViewPr snapToGrid="0">
      <p:cViewPr varScale="1">
        <p:scale>
          <a:sx n="91" d="100"/>
          <a:sy n="91" d="100"/>
        </p:scale>
        <p:origin x="192" y="6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</a:rPr>
              <a:t>各位评委老师，下午好。我们是来自中国矿业大学的“动感光波biubiubiu”团队。今天我们带来的项目是“zeroTrace”，一个轻量级的用户态动态探针系统。在接下来的时间里，我们将详细介绍该系统的设计、实现与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本次答辩将围绕五个部分展开。首先是项目概览，介绍我们为什么要做这个项目；其次是系统架构，阐述我们如何设计zeroTrace；接着是关键实现，深入剖析技术细节；然后是实验验证，用数据证明我们系统的有效性；最后是项目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首先我们来看项目背景。动态追踪是现代系统调试和性能分析不可或缺的技术。然而，现有的主流方案都存在明显的痛点。内核态方案如eBPF，虽然功能强大，但在追踪热点函数时，频繁的内核切换会带来显著的性能损耗。而基于ptrace的调试器方案，其开销更是大到无法在生产环境中使用。因此，我们的动机就是要解决这些痛点，打造一个真正轻量级、低开销的动态探针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我们的核心目标非常明确：实现低开销的动态追踪。为了达成这一目标，我们提出了“将复杂性前置，将高效性留给运行时”的设计理念。具体来说，所有复杂的、一次性的工作，比如代码注入和指令修改，都在探针安装阶段由tracer进程完成。而当探针真正命中时，所有处理逻辑都在用户态快速完成，从而保证了极致的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上述理念，我们实现了zeroTrace系统。它不仅支持动态追踪的基础功能，还实现了线程安全、热更新等进阶特性，并提供了对x86和ARM两种主流架构的支持。我们的主要贡献在于实现了纯用户态的命中路径，设计了精巧的返回探针机制，并保证了多线程环境下的patch安全，同时还提供了灵活的热更新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580B4-1D76-4B87-8BF3-5247F3C7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126FC7-394C-E2C5-17EC-359E31A697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F62800-ED89-087D-75DC-5A74AF09790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9B01320-4F22-2BE9-AAFE-2D82BCDEE7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BD87C52-FFC2-4CF6-3FCB-145573ADEF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上述理念，我们实现了zeroTrace系统。它不仅支持动态追踪的基础功能，还实现了线程安全、热更新等进阶特性，并提供了对x86和ARM两种主流架构的支持。我们的主要贡献在于实现了纯用户态的命中路径，设计了精巧的返回探针机制，并保证了多线程环境下的patch安全，同时还提供了灵活的热更新能力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A7AFA-21F6-EB2E-F44F-52809DD3C9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9BAB3-A8ED-2551-A21C-605C2E4C5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90366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接下来看系统架构。zeroTrace采用了清晰的控制面与数据面分离设计。控制面运行在独立的tracer进程中，负责所有复杂的控制逻辑和初始化工作。而数据面则被注入到目标进程内部，负责处理探针命中后的快速路径。两者通过共享内存进行高效通信，这种设计保证了运行时的极致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详细展示了zeroTrace各个核心模块的职责。从顶层的CLI交互，到底层的架构相关实现，每个模块都各司其职。特别是zt_injector模块，它封装了所有与ptrace相关的复杂操作，而zt_payload则是运行在目标进程内的核心，负责处理探针命中后的所有逻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展示了一个探针从安装到运行的完整生命周期。整个过程由tracer进程驱动，从attach目标进程开始，到初始化运行时环境，再到执行函数入口的patch，最后恢复进程运行。整个过程安全、有序，确保了探针可以被正确安装并开始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深入关键实现部分。首先是入口Patch和Trampoline机制，这是zeroTrace实现低开销的核心。我们在目标函数入口写入一条跳转指令，将执行流导向一段我们预先注入的Trampoline代码。这段代码会先执行被覆盖的原指令，然后调用我们的处理逻辑，最后再跳回原函数。整个过程无缝衔接，保证了原程序逻辑的完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如何捕获函数的返回值呢？我们设计了精巧的Return Probe机制。核心思想是在函数入口处，将真实的返回地址“偷梁换柱”，保存到TLS的影子栈中，并用我们自己的exit stub地址取而代之。这样，当函数执行完毕返回时，会先执行我们的exit stub来记录返回值，然后再恢复真实的返回地址，回到原调用者。这张图展示了在aarch64架构上，我们如何通过寄存器来巧妙地实现这一过程。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多线程环境下修改函数入口是一个经典的难题。为了解决这个问题，我们设计了“线程组收敛与安全窗口”机制。在执行patch操作前，我们会先暂停目标进程的所有线程，然后检查每个线程的执行位置。如果有线程正好处在我们要修改的指令上，我们会让它单步执行到安全区域。只有当所有线程都离开危险区后，我们才执行patch，从而保证了操作的绝对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支持多种硬件架构，我们采用了分层解耦的设计。公共的控制逻辑通过统一的接口与具体的架构后端交互。每个后端，比如x86_64或aarch64，都独立实现了与该架构相关的所有细节，如指令patch、寄存器操作等。这种设计使得我们可以方便地扩展支持新的指令集架构，比如未来的RISC-V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实验验证部分。我们在x86和ARM两个平台上进行了全面的测试。首先是正确性测试，我们构建了一套自动化测试套件，覆盖了从基础功能到多线程、热更新等复杂场景的方方面面。测试结果表明，zeroTrace在所有场景下都表现正确，没有破坏目标程序的原有行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性能是我们最关心的指标。在x86_64平台上，我们的测试结果非常令人振奋。如图所示，zeroTrace的单次调用额外开销仅为174纳秒，而内核uprobe的开销接近2微秒。这意味着，在热点函数上，我们的方案比内核方案快了超过11倍！同时，探针的安装和卸载延迟也远低于赛题要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在aarch64平台上，zeroTrace同样保持了性能优势。我们的额外开销约为237纳秒，而内核uprobe约为653纳秒，开销降低了超过2倍。这证明了我们的设计在不同架构上都具有普适性和高效性。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们的项目进行总结。我们成功设计并实现了zeroTrace系统，它功能完备、性能卓越且稳定可靠，完全达成了我们的设计目标。展望未来，我们计划支持更多架构，增强脚本能力，并探索与eBPF生态的集成，让zeroTrace变得更加强大和易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我的汇报到此结束，感谢各位评委老师的聆听。欢迎提问。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062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  <p:sldLayoutId id="215748370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1320800"/>
            <a:ext cx="8572500" cy="723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zeroTrace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85800" y="2133600"/>
            <a:ext cx="78105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100" b="0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轻量级用户态动态探针设计与实现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85800" y="2705100"/>
            <a:ext cx="8001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2026年全国大学生计算机系统能力大赛操作系统设计赛 · OS功能挑战赛 proj40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" y="3505200"/>
            <a:ext cx="10820400" cy="12700"/>
          </a:xfrm>
          <a:prstGeom prst="roundRect">
            <a:avLst>
              <a:gd name="adj" fmla="val 0"/>
            </a:avLst>
          </a:prstGeom>
          <a:solidFill>
            <a:srgbClr val="D8DD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3987800"/>
            <a:ext cx="24765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队伍名称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85800" y="4330700"/>
            <a:ext cx="24765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动感光波 biubiubiu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378200" y="3911600"/>
            <a:ext cx="12700" cy="901700"/>
          </a:xfrm>
          <a:prstGeom prst="roundRect">
            <a:avLst>
              <a:gd name="adj" fmla="val 0"/>
            </a:avLst>
          </a:prstGeom>
          <a:solidFill>
            <a:srgbClr val="DDE6F0">
              <a:alpha val="100000"/>
            </a:srgbClr>
          </a:solidFill>
          <a:ln w="12700" cap="flat" cmpd="sng">
            <a:solidFill>
              <a:srgbClr val="DDE6F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530600" y="3987800"/>
            <a:ext cx="18415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学校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30600" y="4330700"/>
            <a:ext cx="18415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中国矿业大学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588000" y="3911600"/>
            <a:ext cx="12700" cy="901700"/>
          </a:xfrm>
          <a:prstGeom prst="roundRect">
            <a:avLst>
              <a:gd name="adj" fmla="val 0"/>
            </a:avLst>
          </a:prstGeom>
          <a:solidFill>
            <a:srgbClr val="DDE6F0">
              <a:alpha val="100000"/>
            </a:srgbClr>
          </a:solidFill>
          <a:ln w="12700" cap="flat" cmpd="sng">
            <a:solidFill>
              <a:srgbClr val="DDE6F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727700" y="3987800"/>
            <a:ext cx="32766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队员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27700" y="4330700"/>
            <a:ext cx="3276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舒钰尧、曹佳一、倪晨曦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220200" y="3911600"/>
            <a:ext cx="12700" cy="901700"/>
          </a:xfrm>
          <a:prstGeom prst="roundRect">
            <a:avLst>
              <a:gd name="adj" fmla="val 0"/>
            </a:avLst>
          </a:prstGeom>
          <a:solidFill>
            <a:srgbClr val="DDE6F0">
              <a:alpha val="100000"/>
            </a:srgbClr>
          </a:solidFill>
          <a:ln w="12700" cap="flat" cmpd="sng">
            <a:solidFill>
              <a:srgbClr val="DDE6F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372600" y="3987800"/>
            <a:ext cx="21336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指导教师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72600" y="4330700"/>
            <a:ext cx="21336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林果园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" y="5029200"/>
            <a:ext cx="10820400" cy="12700"/>
          </a:xfrm>
          <a:prstGeom prst="roundRect">
            <a:avLst>
              <a:gd name="adj" fmla="val 0"/>
            </a:avLst>
          </a:prstGeom>
          <a:solidFill>
            <a:srgbClr val="D8DD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5800" y="5334000"/>
            <a:ext cx="7239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144000" y="342900"/>
            <a:ext cx="2362200" cy="596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8800" y="1485900"/>
            <a:ext cx="76200" cy="95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990600"/>
            <a:ext cx="108204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85800" y="1625600"/>
            <a:ext cx="10820400" cy="25400"/>
          </a:xfrm>
          <a:prstGeom prst="roundRect">
            <a:avLst>
              <a:gd name="adj" fmla="val 0"/>
            </a:avLst>
          </a:prstGeom>
          <a:solidFill>
            <a:srgbClr val="CBD5E1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6800" y="2120900"/>
            <a:ext cx="533400" cy="4191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2184400"/>
            <a:ext cx="5334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892300" y="2095500"/>
            <a:ext cx="2095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806700"/>
            <a:ext cx="533400" cy="4191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66800" y="2870200"/>
            <a:ext cx="5334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892300" y="2781300"/>
            <a:ext cx="2095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6800" y="3492500"/>
            <a:ext cx="533400" cy="4191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66800" y="3556000"/>
            <a:ext cx="5334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892300" y="3467100"/>
            <a:ext cx="2095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66800" y="4178300"/>
            <a:ext cx="533400" cy="4191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66800" y="4241800"/>
            <a:ext cx="5334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892300" y="4152900"/>
            <a:ext cx="2095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66800" y="4864100"/>
            <a:ext cx="533400" cy="4191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66800" y="4927600"/>
            <a:ext cx="5334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892300" y="4838700"/>
            <a:ext cx="20955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33400" y="1003300"/>
            <a:ext cx="76200" cy="5588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>
            <a:off x="32131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" y="736600"/>
            <a:ext cx="76200" cy="5715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723900"/>
            <a:ext cx="10820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" tIns="254" rIns="254" bIns="254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9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01 项目概览：背景与动机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>
            <a:off x="685800" y="1219200"/>
            <a:ext cx="108204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CBD5E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85800" y="1905000"/>
            <a:ext cx="3505200" cy="4064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2800" y="2095500"/>
            <a:ext cx="32512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01 / 动态追踪的核心价值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3974">
            <a:off x="812813" y="2660650"/>
            <a:ext cx="3124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D356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2800" y="2921000"/>
            <a:ext cx="3251200" cy="279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在不中断线上服务程序运行的前提下，深入进程内部实时观测执行流、参数传递与状态变化。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它是现代复杂分布式系统中，实现服务调试、性能瓶颈分析、故障根因定位以及链路追踪的关键底层技术，是保障系统稳定性与可观测性的核心手段。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4343400" y="1905000"/>
            <a:ext cx="3505200" cy="4064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470400" y="2095500"/>
            <a:ext cx="32512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"/>
                <a:ea typeface="Noto Sans"/>
                <a:cs typeface="Noto Sans"/>
                <a:sym typeface="Noto Sans"/>
              </a:rPr>
              <a:t>02 / 现有主流方案的痛点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3974">
            <a:off x="4470413" y="2660650"/>
            <a:ext cx="3124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262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4470400" y="2921000"/>
            <a:ext cx="32512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内核态方案 (eBPF/uprobe)：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高频调用场景下，频繁的内核态/用户态上下文切换会带来巨大性能开销，违背了“无感观测”的初衷，影响服务吞吐量。</a:t>
            </a:r>
          </a:p>
        </p:txBody>
      </p:sp>
      <p:cxnSp>
        <p:nvCxnSpPr>
          <p:cNvPr id="26" name="Connector 26"/>
          <p:cNvCxnSpPr/>
          <p:nvPr/>
        </p:nvCxnSpPr>
        <p:spPr>
          <a:xfrm rot="-13974">
            <a:off x="4470413" y="4311650"/>
            <a:ext cx="3124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4470400" y="4445000"/>
            <a:ext cx="32512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调试器式方案 (ptrace)：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每次探针命中均触发 SIGTRAP 陷入内核，观测成本极高，且易导致目标进程阻塞，完全不适合生产环境的持续监控。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8001000" y="1905000"/>
            <a:ext cx="3505200" cy="4064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8128000" y="2095500"/>
            <a:ext cx="32512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03 / 本项目的核心动机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13974">
            <a:off x="8128013" y="2660650"/>
            <a:ext cx="3124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8128000" y="2921000"/>
            <a:ext cx="3251200" cy="279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针对现有方案的性能瓶颈，我们的核心目标是设计并实现一套</a:t>
            </a:r>
            <a:r>
              <a:rPr lang="en-US" sz="16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轻量级用户态动态探针系统</a:t>
            </a:r>
            <a:r>
              <a:rPr lang="en-US" sz="16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将探针命中后的逻辑处理尽可能限制在用户态空间完成，最大化减少内核态交互与上下文切换，从而将系统观测的额外开销降至最低，真正实现生产环境的“无感植入、高效监控”。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85800" y="6096000"/>
            <a:ext cx="10820400" cy="508000"/>
          </a:xfrm>
          <a:prstGeom prst="roundRect">
            <a:avLst>
              <a:gd name="adj" fmla="val 0"/>
            </a:avLst>
          </a:prstGeom>
          <a:solidFill>
            <a:srgbClr val="1D356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12800" y="6159500"/>
            <a:ext cx="105664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核心愿景：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打破内核态观测的性能枷锁，构建低侵入、高可用的用户态可观测性基础设施。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>
            <a:off x="32131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" y="736600"/>
            <a:ext cx="76200" cy="5715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723900"/>
            <a:ext cx="10820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" tIns="254" rIns="254" bIns="254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9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01 项目概览：目标与设计理念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>
            <a:off x="685800" y="1219200"/>
            <a:ext cx="108204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CBD5E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85800" y="1905000"/>
            <a:ext cx="10820400" cy="1016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89000" y="2032000"/>
            <a:ext cx="1041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6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实现对运行中用户态程序的低开销动态追踪，在不影响业务正常运行的前提下，精准采集关键运行时数据，为性能分析与故障诊断提供支撑。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5800" y="3429000"/>
            <a:ext cx="5270500" cy="2921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89000" y="3619500"/>
            <a:ext cx="495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01 安装阶段：前置所有复杂性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046">
            <a:off x="889008" y="4248150"/>
            <a:ext cx="482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D356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89000" y="4445000"/>
            <a:ext cx="48895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由独立的</a:t>
            </a:r>
            <a:r>
              <a:rPr lang="en-US" sz="14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tracer 进程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全权负责所有高复杂度的准备工作，包括符号解析、远程内存注入、trampoline 跳转代码构造、多线程安全控制以及目标函数入口的 patch 操作。将一次性的复杂逻辑集中在探针部署阶段完成，避免运行时的性能损耗。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35700" y="3429000"/>
            <a:ext cx="5270500" cy="2921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438900" y="3619500"/>
            <a:ext cx="495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02 命中阶段：极致的运行时高效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046">
            <a:off x="6438908" y="4248150"/>
            <a:ext cx="482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5803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438900" y="4445000"/>
            <a:ext cx="48895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当探针触发时，执行流完全在</a:t>
            </a: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目标进程用户态内部闭环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。所有操作（现场保存、参数采集、事件记录）均无需陷入内核态，彻底规避了昂贵的系统调用与上下文切换开销，确保对业务性能的影响降至最低。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>
            <a:off x="32131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" y="736600"/>
            <a:ext cx="76200" cy="5715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723900"/>
            <a:ext cx="10820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" tIns="254" rIns="254" bIns="254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9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01 项目概览：核心功能与贡献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>
            <a:off x="685800" y="1219200"/>
            <a:ext cx="108204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CBD5E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85800" y="1778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85800" y="1778000"/>
            <a:ext cx="50800" cy="12065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63600" y="1841500"/>
            <a:ext cx="5080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01. 基础功能：全链路动态追踪能力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681">
            <a:off x="863608" y="2216150"/>
            <a:ext cx="5029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63600" y="2286000"/>
            <a:ext cx="508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支持动态库函数追踪、参数与返回值全量捕获，实现多探针共存部署与动态开关控制，为系统观测提供基础支撑能力。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5800" y="3175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85800" y="3175000"/>
            <a:ext cx="50800" cy="12065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63600" y="3238500"/>
            <a:ext cx="5080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02. 进阶功能：高安全与高灵活性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8681">
            <a:off x="863608" y="3613150"/>
            <a:ext cx="5029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63600" y="3683000"/>
            <a:ext cx="508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保障线程组级Patch操作安全，支持复杂业务条件过滤；实现探针热更新机制，并允许探针内部直接调用目标进程函数，增强业务适配性。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85800" y="4572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85800" y="4572000"/>
            <a:ext cx="50800" cy="14605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63600" y="4635500"/>
            <a:ext cx="5080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03. 架构兼容：跨平台与生态融合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8681">
            <a:off x="863608" y="5010150"/>
            <a:ext cx="5029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863600" y="51435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双架构后端：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深度适配 x86_64 与 aarch64 指令集，确保在不同硬件平台上的稳定运行与性能一致性。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5347115">
            <a:off x="3016250" y="5549949"/>
            <a:ext cx="825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3530600" y="5143500"/>
            <a:ext cx="241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生态兼容：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日志输出格式完美兼容 perf/ftrace 风格，无缝接入现有Linux系统分析工具链。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5390177">
            <a:off x="4127500" y="3994159"/>
            <a:ext cx="444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6540500" y="1778000"/>
            <a:ext cx="5207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667500" y="1968500"/>
            <a:ext cx="381000" cy="381000"/>
          </a:xfrm>
          <a:prstGeom prst="roundRect">
            <a:avLst>
              <a:gd name="adj" fmla="val 0"/>
            </a:avLst>
          </a:prstGeom>
          <a:solidFill>
            <a:srgbClr val="1D356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6667500" y="1968500"/>
            <a:ext cx="38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175500" y="1841500"/>
            <a:ext cx="444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纯用户态命中路径，极致低开销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摒弃内核态介入，极大降低热点函数观测的性能损耗，保障业务运行流畅度，适合高并发场景。</a:t>
            </a:r>
          </a:p>
        </p:txBody>
      </p:sp>
      <p:sp>
        <p:nvSpPr>
          <p:cNvPr id="40" name="AutoShape 40"/>
          <p:cNvSpPr/>
          <p:nvPr/>
        </p:nvSpPr>
        <p:spPr>
          <a:xfrm>
            <a:off x="6540500" y="2794000"/>
            <a:ext cx="5207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6667500" y="2984500"/>
            <a:ext cx="381000" cy="381000"/>
          </a:xfrm>
          <a:prstGeom prst="roundRect">
            <a:avLst>
              <a:gd name="adj" fmla="val 0"/>
            </a:avLst>
          </a:prstGeom>
          <a:solidFill>
            <a:srgbClr val="1D356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667500" y="2984500"/>
            <a:ext cx="38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7175500" y="2857500"/>
            <a:ext cx="444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TLS影子栈实现精巧Return Probe机制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创新性利用线程局部存储(TLS)构建影子栈，完美解决返回值捕获难题，实现函数调用全生命周期监控。</a:t>
            </a:r>
          </a:p>
        </p:txBody>
      </p:sp>
      <p:sp>
        <p:nvSpPr>
          <p:cNvPr id="44" name="AutoShape 44"/>
          <p:cNvSpPr/>
          <p:nvPr/>
        </p:nvSpPr>
        <p:spPr>
          <a:xfrm>
            <a:off x="6540500" y="3810000"/>
            <a:ext cx="5207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6667500" y="4000500"/>
            <a:ext cx="381000" cy="381000"/>
          </a:xfrm>
          <a:prstGeom prst="roundRect">
            <a:avLst>
              <a:gd name="adj" fmla="val 0"/>
            </a:avLst>
          </a:prstGeom>
          <a:solidFill>
            <a:srgbClr val="1D356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6667500" y="4000500"/>
            <a:ext cx="38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7175500" y="3873500"/>
            <a:ext cx="444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线程组级Patch安全，稳如磐石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设计严格的多线程同步机制，确保在复杂并发环境下进行二进制Patch操作的原子性与安全性，杜绝崩溃风险。</a:t>
            </a:r>
          </a:p>
        </p:txBody>
      </p:sp>
      <p:sp>
        <p:nvSpPr>
          <p:cNvPr id="48" name="AutoShape 48"/>
          <p:cNvSpPr/>
          <p:nvPr/>
        </p:nvSpPr>
        <p:spPr>
          <a:xfrm>
            <a:off x="6540500" y="4826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49"/>
          <p:cNvSpPr/>
          <p:nvPr/>
        </p:nvSpPr>
        <p:spPr>
          <a:xfrm>
            <a:off x="6667500" y="4953000"/>
            <a:ext cx="381000" cy="381000"/>
          </a:xfrm>
          <a:prstGeom prst="roundRect">
            <a:avLst>
              <a:gd name="adj" fmla="val 0"/>
            </a:avLst>
          </a:prstGeom>
          <a:solidFill>
            <a:srgbClr val="1D356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50"/>
          <p:cNvSpPr/>
          <p:nvPr/>
        </p:nvSpPr>
        <p:spPr>
          <a:xfrm>
            <a:off x="6667500" y="4953000"/>
            <a:ext cx="38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7175500" y="4889500"/>
            <a:ext cx="4445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可热更新的探针行为 + 全面验证矩阵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支持探针逻辑在线热更新，无需重启业务；建立多场景、高覆盖的验证矩阵，保障系统全生命周期的稳定可靠。</a:t>
            </a:r>
          </a:p>
        </p:txBody>
      </p:sp>
      <p:cxnSp>
        <p:nvCxnSpPr>
          <p:cNvPr id="52" name="Connector 52"/>
          <p:cNvCxnSpPr/>
          <p:nvPr/>
        </p:nvCxnSpPr>
        <p:spPr>
          <a:xfrm rot="-9822">
            <a:off x="7175509" y="5581650"/>
            <a:ext cx="444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3" name="AutoShape 53"/>
          <p:cNvSpPr/>
          <p:nvPr/>
        </p:nvSpPr>
        <p:spPr>
          <a:xfrm>
            <a:off x="7175500" y="5651500"/>
            <a:ext cx="4445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从功能完备性到生产环境稳定性，构建了完整的技术壁垒与工程化落地能力，填补了用户态动态追踪领域的多项空白。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512A5-A73E-EE7E-17AB-7132701F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1D53921-CC55-6522-1F8F-890D24F5BCAD}"/>
              </a:ext>
            </a:extLst>
          </p:cNvPr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958073E5-CB47-56F1-7A52-D6840D5D3A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B84B7731-25B6-6067-73C6-695ECA968AB1}"/>
              </a:ext>
            </a:extLst>
          </p:cNvPr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F75DE90-DCC0-342D-D8EE-E328FF4395C6}"/>
              </a:ext>
            </a:extLst>
          </p:cNvPr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BD5EED9-C2CA-2A6F-70C4-49B50629A547}"/>
              </a:ext>
            </a:extLst>
          </p:cNvPr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A133267-A450-C0E3-0651-8F93988BE868}"/>
              </a:ext>
            </a:extLst>
          </p:cNvPr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20E79AD0-3A3B-074B-84EB-169561011B93}"/>
              </a:ext>
            </a:extLst>
          </p:cNvPr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AF03E44F-54FF-6A5F-19BF-89B1904744FA}"/>
              </a:ext>
            </a:extLst>
          </p:cNvPr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B8FB297E-FBB4-8DD2-9025-27DCC83A1C02}"/>
              </a:ext>
            </a:extLst>
          </p:cNvPr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B6BDC07C-D6AD-95EA-8EB8-C74A642801FB}"/>
              </a:ext>
            </a:extLst>
          </p:cNvPr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8433B175-6BD6-3F10-6666-FE28C662F21D}"/>
              </a:ext>
            </a:extLst>
          </p:cNvPr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58E8B593-D131-0D5C-D712-8F0A6D7EA68B}"/>
              </a:ext>
            </a:extLst>
          </p:cNvPr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9A115C91-F8B5-D81E-FDB6-AEB26DC160D9}"/>
              </a:ext>
            </a:extLst>
          </p:cNvPr>
          <p:cNvSpPr/>
          <p:nvPr/>
        </p:nvSpPr>
        <p:spPr>
          <a:xfrm rot="10800000">
            <a:off x="32131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10F0603-BB19-289C-878A-064A5A639F89}"/>
              </a:ext>
            </a:extLst>
          </p:cNvPr>
          <p:cNvSpPr/>
          <p:nvPr/>
        </p:nvSpPr>
        <p:spPr>
          <a:xfrm>
            <a:off x="533400" y="736600"/>
            <a:ext cx="76200" cy="5715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B1D10D9F-EC9D-12C0-E698-A3BC707182D7}"/>
              </a:ext>
            </a:extLst>
          </p:cNvPr>
          <p:cNvSpPr/>
          <p:nvPr/>
        </p:nvSpPr>
        <p:spPr>
          <a:xfrm>
            <a:off x="685800" y="723900"/>
            <a:ext cx="10820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" tIns="254" rIns="254" bIns="254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900" b="1" i="0" u="none" strike="noStrike" dirty="0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01 </a:t>
            </a:r>
            <a:r>
              <a:rPr lang="en-US" sz="2900" b="1" i="0" u="none" strike="noStrike" dirty="0" err="1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项目概览：</a:t>
            </a:r>
            <a:r>
              <a:rPr lang="en-US" sz="2900" b="1" dirty="0" err="1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赛题功能实现方案及完成情况</a:t>
            </a:r>
            <a:endParaRPr lang="en-US" sz="1100" dirty="0"/>
          </a:p>
        </p:txBody>
      </p:sp>
      <p:cxnSp>
        <p:nvCxnSpPr>
          <p:cNvPr id="17" name="Connector 17">
            <a:extLst>
              <a:ext uri="{FF2B5EF4-FFF2-40B4-BE49-F238E27FC236}">
                <a16:creationId xmlns:a16="http://schemas.microsoft.com/office/drawing/2014/main" id="{CE9F6D41-12F2-167B-3CDF-9EFF31912209}"/>
              </a:ext>
            </a:extLst>
          </p:cNvPr>
          <p:cNvCxnSpPr/>
          <p:nvPr/>
        </p:nvCxnSpPr>
        <p:spPr>
          <a:xfrm>
            <a:off x="685800" y="1219200"/>
            <a:ext cx="108204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CBD5E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57" name="图片 56">
            <a:extLst>
              <a:ext uri="{FF2B5EF4-FFF2-40B4-BE49-F238E27FC236}">
                <a16:creationId xmlns:a16="http://schemas.microsoft.com/office/drawing/2014/main" id="{896ACE3C-37C8-B5B3-FF37-638A48757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29" y="1511300"/>
            <a:ext cx="6102936" cy="4961907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20AC9725-4A35-6DEC-6E58-6C87E3737F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100" y="2209800"/>
            <a:ext cx="5669304" cy="354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4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>
            <a:off x="51689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" y="736600"/>
            <a:ext cx="762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723900"/>
            <a:ext cx="108204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02 系统架构：总体结构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" y="1219200"/>
            <a:ext cx="10820400" cy="12700"/>
          </a:xfrm>
          <a:prstGeom prst="roundRect">
            <a:avLst>
              <a:gd name="adj" fmla="val 0"/>
            </a:avLst>
          </a:prstGeom>
          <a:solidFill>
            <a:srgbClr val="CBD5E1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350000" y="17780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1905000"/>
            <a:ext cx="4953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核心设计：控制面与数据面分离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zeroTrace系统通过共享内存机制实现通信，将复杂的控制逻辑与高频的数据采集路径彻底解耦。这种架构设计极大降低了目标进程的运行时开销，同时保证了控制逻辑的灵活性与可扩展性，是实现极致性能追踪的关键基础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85800" y="4445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12800" y="4572000"/>
            <a:ext cx="50165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"/>
                <a:ea typeface="Noto Sans"/>
                <a:cs typeface="Noto Sans"/>
                <a:sym typeface="Noto Sans"/>
              </a:rPr>
              <a:t>01 控制面 (Control Plane) - 独立进程管控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运行在独立的tracer进程中，专注于“大脑”决策：负责处理用户CLI交互、全生命周期会话管理；通过ptrace系统调用接管目标进程，完成Payload注入与函数入口Patch，统筹全局追踪逻辑。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286500" y="4445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DCFC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413500" y="4572000"/>
            <a:ext cx="50165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"/>
                <a:ea typeface="Noto Sans"/>
                <a:cs typeface="Noto Sans"/>
                <a:sym typeface="Noto Sans"/>
              </a:rPr>
              <a:t>02 数据面 (Data Plane) - 目标进程内极速处理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驻留于目标进程内部，作为“手脚”执行：在探针命中后执行快速路径，零延迟完成现场上下文保存、关键事件采集与Ring Buffer写入，所有操作均在用户态闭环，避免内核态切换开销。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C7B1E7C-4F4C-2A2E-DBAF-2F70B73CECB2}"/>
              </a:ext>
            </a:extLst>
          </p:cNvPr>
          <p:cNvPicPr>
            <a:picLocks/>
          </p:cNvPicPr>
          <p:nvPr/>
        </p:nvPicPr>
        <p:blipFill>
          <a:blip r:embed="rId4"/>
          <a:srcRect r="4503" b="-186"/>
          <a:stretch>
            <a:fillRect/>
          </a:stretch>
        </p:blipFill>
        <p:spPr>
          <a:xfrm>
            <a:off x="400637" y="2048668"/>
            <a:ext cx="5885863" cy="17479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>
            <a:off x="51689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" y="736600"/>
            <a:ext cx="762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723900"/>
            <a:ext cx="108204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02 系统架构：核心模块职责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" y="1219200"/>
            <a:ext cx="10820400" cy="12700"/>
          </a:xfrm>
          <a:prstGeom prst="roundRect">
            <a:avLst>
              <a:gd name="adj" fmla="val 0"/>
            </a:avLst>
          </a:prstGeom>
          <a:solidFill>
            <a:srgbClr val="CBD5E1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5800" y="1778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85800" y="177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1841500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zt_cli ｜ 交互层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814">
            <a:off x="889008" y="2279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89000" y="2349500"/>
            <a:ext cx="495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作为用户与系统的交互入口，负责解析用户输入的命令参数，维护attach会话的生命周期，并根据指令触发trace追踪、配置更新、功能禁用等核心操作。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5800" y="3429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85800" y="3429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89000" y="3492500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zt_trace_runner ｜ 控制层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8814">
            <a:off x="889008" y="3930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89000" y="4000500"/>
            <a:ext cx="495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系统的中枢调度模块，负责串联injector、payload及架构后端等组件。作为Active Trace的状态中心，统一管理追踪任务的启动、暂停、恢复与销毁流程。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85800" y="5080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85800" y="508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89000" y="5143500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zt_injector ｜ 注入层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8814">
            <a:off x="889008" y="5581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889000" y="5651500"/>
            <a:ext cx="495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封装底层ptrace系统调用，负责目标进程的线程组控制、远程内存读写、符号表解析以及探针入口点的Patch操作，是实现无侵入注入的核心技术层。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223000" y="1778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223000" y="177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426200" y="1841500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zt_trampoline_pool ｜ 资源层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8814">
            <a:off x="6426208" y="2279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6426200" y="2349500"/>
            <a:ext cx="495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管理目标进程空间中预分配的可执行内存池，为动态生成的Trampoline代码提供安全可靠的执行载体，确保探针逻辑能够在目标进程地址空间中高效运行。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223000" y="3429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6223000" y="3429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6426200" y="3492500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src/isa/&lt;arch&gt; ｜ 架构后端</a:t>
            </a:r>
            <a:endParaRPr lang="en-US" sz="1100"/>
          </a:p>
        </p:txBody>
      </p:sp>
      <p:cxnSp>
        <p:nvCxnSpPr>
          <p:cNvPr id="41" name="Connector 41"/>
          <p:cNvCxnSpPr/>
          <p:nvPr/>
        </p:nvCxnSpPr>
        <p:spPr>
          <a:xfrm rot="-8814">
            <a:off x="6426208" y="3930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6426200" y="4000500"/>
            <a:ext cx="495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提供CPU架构相关的底层实现细节，包括针对不同指令集（如x86_64, ARM）的Patch模板生成、Trampoline代码构造以及寄存器上下文的操作逻辑，保证系统的跨架构兼容性。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223000" y="5080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6223000" y="508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6426200" y="5143500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zt_payload ｜ 数据面运行时</a:t>
            </a:r>
            <a:endParaRPr lang="en-US" sz="1100"/>
          </a:p>
        </p:txBody>
      </p:sp>
      <p:cxnSp>
        <p:nvCxnSpPr>
          <p:cNvPr id="46" name="Connector 46"/>
          <p:cNvCxnSpPr/>
          <p:nvPr/>
        </p:nvCxnSpPr>
        <p:spPr>
          <a:xfrm rot="-8814">
            <a:off x="6426208" y="5581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7" name="AutoShape 47"/>
          <p:cNvSpPr/>
          <p:nvPr/>
        </p:nvSpPr>
        <p:spPr>
          <a:xfrm>
            <a:off x="6426200" y="5651500"/>
            <a:ext cx="495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注入目标进程后实际运行的核心逻辑单元，负责探针命中时的现场保存、栈帧维护、返回链构建以及最终事件数据的采集与写入，是实现低开销追踪的关键。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>
            <a:off x="51689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" y="736600"/>
            <a:ext cx="762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723900"/>
            <a:ext cx="108204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02 系统架构：Probe生命周期流程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" y="1219200"/>
            <a:ext cx="10820400" cy="12700"/>
          </a:xfrm>
          <a:prstGeom prst="roundRect">
            <a:avLst>
              <a:gd name="adj" fmla="val 0"/>
            </a:avLst>
          </a:prstGeom>
          <a:solidFill>
            <a:srgbClr val="CBD5E1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rcRect t="386" b="386"/>
          <a:stretch>
            <a:fillRect/>
          </a:stretch>
        </p:blipFill>
        <p:spPr>
          <a:xfrm>
            <a:off x="685800" y="1778000"/>
            <a:ext cx="3683000" cy="368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685800" y="5651500"/>
            <a:ext cx="3683000" cy="762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12800" y="5715000"/>
            <a:ext cx="3429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图示为探针安装与运行的完整逻辑闭环，涵盖从进程Attach到异步数据消费的全链路状态流转，确保探针注入的原子性与安全性。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90450">
            <a:off x="2413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4953000" y="1778000"/>
            <a:ext cx="2159000" cy="1333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054600" y="1879600"/>
            <a:ext cx="1968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01. Attach与收敛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Tracer通过ptrace attach到目标进程，强制停止其所有线程，确保后续操作在静止环境中执行。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302500" y="1778000"/>
            <a:ext cx="2159000" cy="1333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404100" y="1879600"/>
            <a:ext cx="1968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02. Runtime初始化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注入payload动态库，在目标进程空间创建共享的trace buffer，为数据采集搭建基础环境。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9588500" y="1778000"/>
            <a:ext cx="2159000" cy="1333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9690100" y="1879600"/>
            <a:ext cx="1968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03. 符号解析与Patch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解析目标函数的内存地址，分配专用的trampoline slot，并读取函数原始前导指令以准备重定位。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4953000" y="3429000"/>
            <a:ext cx="2159000" cy="1333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5054600" y="3530600"/>
            <a:ext cx="1968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04. 入口Patch注入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将目标函数的入口指令替换为跳转指令，使其指向trampoline代码块，实现对原函数逻辑的劫持。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7302500" y="3429000"/>
            <a:ext cx="2159000" cy="1333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7404100" y="3530600"/>
            <a:ext cx="1968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05. 恢复进程运行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恢复目标进程所有线程的执行状态，此时探针已生效，系统开始正常采集函数调用的相关数据。</a:t>
            </a:r>
          </a:p>
        </p:txBody>
      </p:sp>
      <p:sp>
        <p:nvSpPr>
          <p:cNvPr id="32" name="AutoShape 32"/>
          <p:cNvSpPr/>
          <p:nvPr/>
        </p:nvSpPr>
        <p:spPr>
          <a:xfrm>
            <a:off x="9588500" y="3429000"/>
            <a:ext cx="2159000" cy="1333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9690100" y="3530600"/>
            <a:ext cx="1968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06. 异步事件消费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Tracer进程独立异步轮询读取共享的trace buffer，解析并处理其中的事件数据，不阻塞目标业务。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4953000" y="5207000"/>
            <a:ext cx="6794500" cy="1143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5080000" y="5308600"/>
            <a:ext cx="6540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07. 资源清理与卸载：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当需要移除探针时，系统会将目标函数入口恢复为原始指令，释放分配的trampoline空间、共享内存及动态库资源，确保对目标进程无残留影响，实现无损卸载。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>
            <a:off x="71374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" y="736600"/>
            <a:ext cx="762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723900"/>
            <a:ext cx="108204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03 关键实现：入口Patch与Trampoline机制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" y="1219200"/>
            <a:ext cx="10820400" cy="12700"/>
          </a:xfrm>
          <a:prstGeom prst="roundRect">
            <a:avLst>
              <a:gd name="adj" fmla="val 0"/>
            </a:avLst>
          </a:prstGeom>
          <a:solidFill>
            <a:srgbClr val="CBD5E1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5800" y="1778000"/>
            <a:ext cx="5334000" cy="2222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2800" y="1905000"/>
            <a:ext cx="508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01. 入口Patch：函数入口的跳转劫持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8594">
            <a:off x="812808" y="2406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2800" y="2540000"/>
            <a:ext cx="5080000" cy="1333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在目标函数入口写入固定长度的跳转指令，将执行流导向预注入的代码段。针对不同架构做适配：x86_64 采用14字节RIP相对间接跳转；aarch64 采用16字节 ldr/br 指令序列，确保指令完整性与兼容性。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85800" y="4254500"/>
            <a:ext cx="5334000" cy="2222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12800" y="4381500"/>
            <a:ext cx="508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02. Trampoline：原逻辑与探针的无缝桥接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8594">
            <a:off x="812808" y="4883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12800" y="5016500"/>
            <a:ext cx="5080000" cy="1333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在目标进程内预分配可执行内存区域。核心流程：首先执行被Patch覆盖的原指令保证逻辑完整；其次调用Payload Stub采集事件数据；最后精准跳转回原函数断点处继续执行，实现低侵入、低开销的无感监控。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90708">
            <a:off x="4000500" y="4121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604000" y="5207000"/>
            <a:ext cx="4953000" cy="1143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731000" y="5334000"/>
            <a:ext cx="4699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控制流执行示意图：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从原函数入口Patch出发，经Trampoline完成指令补全与探针调用，最终回归原函数主体执行，形成闭环，确保程序逻辑无缺损、执行无感知。</a:t>
            </a:r>
            <a:endParaRPr lang="en-US" sz="110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870A6B0E-E97E-5EDA-CAE6-C77C30455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379" y="2353171"/>
            <a:ext cx="4926499" cy="20735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>
            <a:off x="71374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" y="736600"/>
            <a:ext cx="762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723900"/>
            <a:ext cx="108204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03 关键实现：Return Probe与返回链管理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" y="1219200"/>
            <a:ext cx="10820400" cy="12700"/>
          </a:xfrm>
          <a:prstGeom prst="roundRect">
            <a:avLst>
              <a:gd name="adj" fmla="val 0"/>
            </a:avLst>
          </a:prstGeom>
          <a:solidFill>
            <a:srgbClr val="CBD5E1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5800" y="1778000"/>
            <a:ext cx="5334000" cy="1651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2800" y="1905000"/>
            <a:ext cx="508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01 / 核心思想：偷梁换柱的返回地址接管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8594">
            <a:off x="812808" y="2343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D356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2800" y="2476500"/>
            <a:ext cx="5080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在函数入口处，将真实的返回地址保存到线程本地存储（TLS）的“影子栈”中，随后将栈上的返回地址替换为zeroTrace内置的exit stub地址，从而拦截函数的返回流程。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85800" y="3810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12800" y="3937000"/>
            <a:ext cx="2349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x86_64 架构实现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8582">
            <a:off x="812817" y="4375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D356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12800" y="4508500"/>
            <a:ext cx="2349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直接操作调用栈，在函数 prologue 阶段修改栈帧中保存的返回地址（Return Address），无需依赖特殊寄存器，实现简洁高效。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429000" y="3810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3556000" y="3937000"/>
            <a:ext cx="2349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aarch64 架构实现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8582">
            <a:off x="3556017" y="4375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D356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3556000" y="4508500"/>
            <a:ext cx="2349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利用寄存器交换机制，将链接寄存器（LR）的真实值暂存至通用寄存器（如x15），并将LR替换为exit stub地址，适配ARM的寄存器调用约定。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5389889">
            <a:off x="4191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6604000" y="4064000"/>
            <a:ext cx="4826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02 / 完整执行流程：从接管到恢复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9046">
            <a:off x="6604008" y="4502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D356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6604000" y="4635500"/>
            <a:ext cx="4826000" cy="146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当函数执行ret指令时，程序流会跳转到exit stub。exit stub首先记录函数的返回值，然后从TLS影子栈中弹出之前保存的真实LR值并写回寄存器，最后执行ret指令跳回原调用者，完成整个无痕的返回值捕获闭环。</a:t>
            </a:r>
            <a:endParaRPr lang="en-US" sz="110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CCBD9637-8A4D-414B-0096-2B4158D30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0" y="1949869"/>
            <a:ext cx="5367337" cy="18220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>
            <a:off x="71374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" y="736600"/>
            <a:ext cx="762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723900"/>
            <a:ext cx="108204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03 关键实现：多线程Patch安全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" y="1219200"/>
            <a:ext cx="10820400" cy="12700"/>
          </a:xfrm>
          <a:prstGeom prst="roundRect">
            <a:avLst>
              <a:gd name="adj" fmla="val 0"/>
            </a:avLst>
          </a:prstGeom>
          <a:solidFill>
            <a:srgbClr val="CBD5E1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5800" y="1651000"/>
            <a:ext cx="108204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在多线程程序中直接修改函数入口是极其危险的操作，可能导致正在执行该指令的线程因指令流被破坏而崩溃。为解决此问题，我们设计了“线程组收敛与安全窗口”机制，确保 Patch 操作的原子性与安全性。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2921000"/>
            <a:ext cx="5283200" cy="1905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350000" y="3048000"/>
            <a:ext cx="50292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核心机制：线程收敛与单步护航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ptrace 控制系统调用，强制目标进程的所有线程暂停执行，确保指令流静止。随后检查线程上下文，将处于危险指令区间的线程单步引导至安全位置，为 Patch 操作构建一个无竞争的“安全窗口”。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85800" y="5207000"/>
            <a:ext cx="2590800" cy="1270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85800" y="5207000"/>
            <a:ext cx="50800" cy="12700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38200" y="5308600"/>
            <a:ext cx="23368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01. 全域线程冻结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 Patch 前，利用 ptrace 附着并暂停目标进程的所有线程，阻断指令流的动态执行。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3429000" y="5207000"/>
            <a:ext cx="2590800" cy="1270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3429000" y="5207000"/>
            <a:ext cx="50800" cy="12700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3581400" y="5308600"/>
            <a:ext cx="23368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02. 危险区间排查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检查所有停止线程的 PC 寄存器值，识别并标记正处于待修改指令区间内的“高危”线程。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172200" y="5207000"/>
            <a:ext cx="2590800" cy="1270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172200" y="5207000"/>
            <a:ext cx="50800" cy="12700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324600" y="5308600"/>
            <a:ext cx="23368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03. 安全窗口执行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将高危线程单步执行至安全位置后，原子化写入或恢复函数入口的 Patch 指令，确保一致性。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8915400" y="5207000"/>
            <a:ext cx="2590800" cy="1270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915400" y="5207000"/>
            <a:ext cx="50800" cy="12700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9067800" y="5308600"/>
            <a:ext cx="23368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04. 恢复线程运行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Patch 完成后，解除所有线程的暂停状态，恢复进程正常调度，整个过程对业务逻辑无感知。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A767622F-9DDB-5B18-36E6-AF0BF98B3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43" y="2906017"/>
            <a:ext cx="5758457" cy="18326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>
            <a:off x="71374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" y="736600"/>
            <a:ext cx="762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723900"/>
            <a:ext cx="108204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03 关键实现：多架构后端设计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" y="1219200"/>
            <a:ext cx="10820400" cy="12700"/>
          </a:xfrm>
          <a:prstGeom prst="roundRect">
            <a:avLst>
              <a:gd name="adj" fmla="val 0"/>
            </a:avLst>
          </a:prstGeom>
          <a:solidFill>
            <a:srgbClr val="CBD5E1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5800" y="1651000"/>
            <a:ext cx="108204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zeroTrace 的设计充分考虑了跨平台能力，通过分层架构将公共控制逻辑与底层架构相关的具体实现彻底解耦。公共控制层定义统一的交互接口，屏蔽了底层硬件差异，使系统能够灵活适配 x86_64、aarch64 等多种指令集架构，也为未来扩展 RISC-V 等新架构预留了空间。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85800" y="2921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12800" y="3048000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▌ 核心架构分层：控制与实现分离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814">
            <a:off x="812808" y="3486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12800" y="3619500"/>
            <a:ext cx="495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公共控制层（trace_runner / injector）作为系统的大脑，负责整体流程调度；底层架构后端则作为执行器，通过统一接口响应控制层指令。这种设计确保了核心逻辑的稳定性，同时让架构相关的细节被封装在独立的后端模块中。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85800" y="51435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12800" y="5270500"/>
            <a:ext cx="2413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01. 入口 Patch 模板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8582">
            <a:off x="812817" y="5645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D356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12800" y="5715000"/>
            <a:ext cx="2349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针对不同架构特性（如x86_64的14B与aarch64的16B指令长度），实现独立的指令Patch模板，确保注入代码的兼容性。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467100" y="51435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3594100" y="5270500"/>
            <a:ext cx="2413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02. Trampoline 构建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18582">
            <a:off x="3594117" y="5645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D356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3594100" y="5715000"/>
            <a:ext cx="2349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负责跳板代码的动态构建与指令重定位，处理相对地址计算，确保被Hook函数在跳转与恢复流程中的地址正确性。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248400" y="51435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375400" y="5270500"/>
            <a:ext cx="2413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03. Stub 汇编现场管理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18582">
            <a:off x="6375417" y="5645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D356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6375400" y="5715000"/>
            <a:ext cx="2349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使用汇编编写Stub代码，严格遵循各架构ABI规范（SysV/AAPCS64），精准完成寄存器现场的保存、恢复及C handler调用。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029700" y="51435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9156700" y="5270500"/>
            <a:ext cx="2413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04. 远程调用与Syscall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-18582">
            <a:off x="9156717" y="5645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D356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9156700" y="5715000"/>
            <a:ext cx="2349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封装远程系统调用和函数调用的底层细节，处理参数传递与返回值获取，为上层提供统一的跨架构调用接口。</a:t>
            </a:r>
            <a:endParaRPr lang="en-US" sz="1100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82F7E1C8-F264-9F60-7CDD-671C02F22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2671166"/>
            <a:ext cx="5019676" cy="23792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>
            <a:off x="90932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" y="736600"/>
            <a:ext cx="762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723900"/>
            <a:ext cx="108204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04 实验验证：环境与正确性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" y="1219200"/>
            <a:ext cx="10820400" cy="12700"/>
          </a:xfrm>
          <a:prstGeom prst="roundRect">
            <a:avLst>
              <a:gd name="adj" fmla="val 0"/>
            </a:avLst>
          </a:prstGeom>
          <a:solidFill>
            <a:srgbClr val="CBD5E1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5800" y="1206500"/>
            <a:ext cx="108204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85800" y="2032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85800" y="2032000"/>
            <a:ext cx="50800" cy="16510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89000" y="2159000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x86_64 架构实验环境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8929">
            <a:off x="889008" y="2660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89000" y="2794000"/>
            <a:ext cx="495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处理器采用 Intel i5-13400，运行 Linux 5.10.240 内核版本，充分覆盖主流桌面与服务器级 x86 应用场景，确保基础环境的通用性。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35700" y="2032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235700" y="2032000"/>
            <a:ext cx="50800" cy="16510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38900" y="2159000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aarch64 架构实验环境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8929">
            <a:off x="6438908" y="2660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438900" y="2794000"/>
            <a:ext cx="495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ARM Neoverse-N1 核心，搭载 Ubuntu 24.04 系统与 Linux 6.17.0 内核，适配高性能 ARM 服务器与嵌入式场景的复杂验证需求。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85800" y="4064000"/>
            <a:ext cx="108204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全场景自动化正确性测试套件覆盖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4034">
            <a:off x="685804" y="4502150"/>
            <a:ext cx="1082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685800" y="4699000"/>
            <a:ext cx="3429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85800" y="4699000"/>
            <a:ext cx="508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25500" y="4762500"/>
            <a:ext cx="317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基础功能完备性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成功实现动态库函数全链路追踪，精准捕获函数入参、返回值与调用栈信息，无数据丢失。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4381500" y="4699000"/>
            <a:ext cx="3429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4381500" y="4699000"/>
            <a:ext cx="508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4521200" y="4762500"/>
            <a:ext cx="317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运行上下文无损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通用寄存器与浮点寄存器状态在探针注入前后保持一致，未破坏目标程序原有执行逻辑与计算精度。</a:t>
            </a:r>
          </a:p>
        </p:txBody>
      </p:sp>
      <p:sp>
        <p:nvSpPr>
          <p:cNvPr id="37" name="AutoShape 37"/>
          <p:cNvSpPr/>
          <p:nvPr/>
        </p:nvSpPr>
        <p:spPr>
          <a:xfrm>
            <a:off x="8077200" y="4699000"/>
            <a:ext cx="3429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8077200" y="4699000"/>
            <a:ext cx="508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8216900" y="4762500"/>
            <a:ext cx="317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探针生命周期稳健</a:t>
            </a:r>
            <a:endParaRPr lang="en-US" sz="1100" dirty="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支持多探针并发部署与条件过滤，探针卸载时自动清理内存资源，无内存泄漏与残留副作用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40" name="AutoShape 40"/>
          <p:cNvSpPr/>
          <p:nvPr/>
        </p:nvSpPr>
        <p:spPr>
          <a:xfrm>
            <a:off x="685800" y="5842000"/>
            <a:ext cx="3429000" cy="762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812800" y="5905500"/>
            <a:ext cx="3238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线程安全保障</a:t>
            </a:r>
            <a:endParaRPr lang="en-US" sz="1100" dirty="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多线程并发命中探针无竞态条件，Entry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/Return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事件严格配平，数据记录准确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42" name="AutoShape 42"/>
          <p:cNvSpPr/>
          <p:nvPr/>
        </p:nvSpPr>
        <p:spPr>
          <a:xfrm>
            <a:off x="4381500" y="5842000"/>
            <a:ext cx="3429000" cy="762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43"/>
          <p:cNvSpPr/>
          <p:nvPr/>
        </p:nvSpPr>
        <p:spPr>
          <a:xfrm>
            <a:off x="4521200" y="5905500"/>
            <a:ext cx="3238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运行时热更新</a:t>
            </a:r>
            <a:endParaRPr lang="en-US" sz="1100" dirty="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支持在线修改过滤规则与调用动作，无需重启目标进程，适配动态调试与策略迭代需求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44" name="AutoShape 44"/>
          <p:cNvSpPr/>
          <p:nvPr/>
        </p:nvSpPr>
        <p:spPr>
          <a:xfrm>
            <a:off x="8077200" y="5842000"/>
            <a:ext cx="3429000" cy="762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8216900" y="5905500"/>
            <a:ext cx="3238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异常场景鲁棒性</a:t>
            </a:r>
            <a:endParaRPr lang="en-US" sz="1100" dirty="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应对短生命周期进程退出、Trace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Buffer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满覆盖等边界场景，系统无崩溃且可优雅降级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>
            <a:off x="90932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" y="736600"/>
            <a:ext cx="762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723900"/>
            <a:ext cx="108204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04 实验验证：性能基准测试 (x86_64)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" y="1219200"/>
            <a:ext cx="10820400" cy="12700"/>
          </a:xfrm>
          <a:prstGeom prst="roundRect">
            <a:avLst>
              <a:gd name="adj" fmla="val 0"/>
            </a:avLst>
          </a:prstGeom>
          <a:solidFill>
            <a:srgbClr val="CBD5E1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5800" y="1778000"/>
            <a:ext cx="5334000" cy="1016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2800" y="1905000"/>
            <a:ext cx="508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测试目标聚焦于循环调用 `getpid()` 系统调用的热点函数，对比 zeroTrace 与无探针基线、内核 `uprobe` 的性能表现，核心评估额外开销与生命周期延迟两大关键指标。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5800" y="3175000"/>
            <a:ext cx="5334000" cy="1651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12800" y="3302000"/>
            <a:ext cx="508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01. 极致的单次调用额外开销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8594">
            <a:off x="812808" y="3740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D356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12800" y="38735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zeroTrace 单次开销仅</a:t>
            </a:r>
            <a:r>
              <a:rPr lang="en-US" sz="16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174.45 ns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，而 kernel uprobe 高达 1994.44 ns，性能提升幅度显著。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42709">
            <a:off x="2971800" y="4311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3479800" y="3873500"/>
            <a:ext cx="241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zeroTrace 相比内核方案开销降低了</a:t>
            </a:r>
            <a:r>
              <a:rPr lang="en-US" sz="18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11.08 倍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，在高频调用场景下优势巨大。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85800" y="50800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6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12800" y="5207000"/>
            <a:ext cx="508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02. 轻量化的生命周期管理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探针安装延迟低至 0.371 ms，卸载延迟仅 0.084 ms，远低于系统级工具的开销，实现了对业务无感知的快速部署与回收。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769100" y="5080000"/>
            <a:ext cx="495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图表展示了</a:t>
            </a:r>
            <a:r>
              <a:rPr lang="en-US" sz="12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x86_64 </a:t>
            </a:r>
            <a:r>
              <a:rPr lang="en-US" sz="12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平台下</a:t>
            </a:r>
            <a:r>
              <a:rPr lang="en-US" sz="12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zeroTrace</a:t>
            </a:r>
            <a:r>
              <a:rPr lang="en-US" sz="12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与 </a:t>
            </a:r>
            <a:r>
              <a:rPr lang="en-US" sz="12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uprobe</a:t>
            </a:r>
            <a:r>
              <a:rPr lang="en-US" sz="12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在函数调用耗时及生命周期延迟上的实测对比数据，zeroTrace</a:t>
            </a:r>
            <a:r>
              <a:rPr lang="en-US" sz="12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在各项指标上均展现出压倒性优势</a:t>
            </a:r>
            <a:r>
              <a:rPr lang="en-US" sz="12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803ECE7B-9017-7D70-BD54-C81279E26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084" y="2260653"/>
            <a:ext cx="5640232" cy="266694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>
            <a:off x="90932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" y="736600"/>
            <a:ext cx="762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723900"/>
            <a:ext cx="108204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04 实验验证：性能基准测试 (aarch64)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" y="1219200"/>
            <a:ext cx="10820400" cy="12700"/>
          </a:xfrm>
          <a:prstGeom prst="roundRect">
            <a:avLst>
              <a:gd name="adj" fmla="val 0"/>
            </a:avLst>
          </a:prstGeom>
          <a:solidFill>
            <a:srgbClr val="CBD5E1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85800" y="5461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12800" y="5524500"/>
            <a:ext cx="495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图表展示了aarch64架构下zeroTrace与kernel uprobe的直接性能对比。左侧柱状图体现单次调用开销，右侧体现探针全生命周期的安装与卸载延迟，数据表明zeroTrace在全流程均具有显著优势。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90177">
            <a:off x="4000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1905000"/>
            <a:ext cx="5283200" cy="1968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770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680200" y="2032000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01. 极致的低额外开销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8952">
            <a:off x="6680208" y="2533650"/>
            <a:ext cx="487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680200" y="2667000"/>
            <a:ext cx="2349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zeroTrace单次调用开销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237.02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ns</a:t>
            </a:r>
          </a:p>
        </p:txBody>
      </p:sp>
      <p:cxnSp>
        <p:nvCxnSpPr>
          <p:cNvPr id="27" name="Connector 27"/>
          <p:cNvCxnSpPr/>
          <p:nvPr/>
        </p:nvCxnSpPr>
        <p:spPr>
          <a:xfrm rot="5350892">
            <a:off x="8636000" y="3168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144000" y="26670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对比kernel uprobe降低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2.02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倍 (Uprobe: 653.14 ns)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477000" y="4318000"/>
            <a:ext cx="5283200" cy="1968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477000" y="431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680200" y="4445000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D3567"/>
                </a:solidFill>
                <a:latin typeface="Noto Sans SC"/>
                <a:ea typeface="Noto Sans SC"/>
                <a:cs typeface="Noto Sans SC"/>
                <a:sym typeface="Noto Sans SC"/>
              </a:rPr>
              <a:t>02. 轻量的生命周期延迟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8952">
            <a:off x="6680208" y="4946650"/>
            <a:ext cx="487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680200" y="5080000"/>
            <a:ext cx="2349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探针安装 (Install) 延迟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0.599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ms</a:t>
            </a:r>
          </a:p>
        </p:txBody>
      </p:sp>
      <p:cxnSp>
        <p:nvCxnSpPr>
          <p:cNvPr id="34" name="Connector 34"/>
          <p:cNvCxnSpPr/>
          <p:nvPr/>
        </p:nvCxnSpPr>
        <p:spPr>
          <a:xfrm rot="5350892">
            <a:off x="8636000" y="5581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9144000" y="50800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探针卸载 (Uninstall) 延迟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0.216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ms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CD8F2361-F934-836A-AEA4-1E95F5730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86" y="2157724"/>
            <a:ext cx="5972864" cy="29237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01600" cy="1016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08000" y="1905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05 项目总结与展望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906">
            <a:off x="508004" y="1073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08000" y="1397000"/>
            <a:ext cx="539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核心成果：轻量级动态探针系统落地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2159000"/>
            <a:ext cx="5397500" cy="1079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08000" y="2159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28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2225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成功实现用户态动态探针系统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自主研发zeroTrace核心框架，摒弃传统内核态依赖，构建了一套完整的、纯用户态运行的轻量级探针系统，实现了从0到1的技术突破。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08000" y="3429000"/>
            <a:ext cx="5397500" cy="1079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08000" y="3429000"/>
            <a:ext cx="76200" cy="1079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556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34925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功能全覆盖与进阶能力拓展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不仅完整实现了赛题要求的attach、detach、参数捕获等基础功能，还额外实现了多线程安全patch、指令级保护窗口等进阶特性。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08000" y="4826000"/>
            <a:ext cx="5397500" cy="1079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08000" y="4826000"/>
            <a:ext cx="76200" cy="1079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4953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889500"/>
            <a:ext cx="400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卓越性能与高稳定性保障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在x86_64/aarch64平台开销显著低于内核uprobe；通过了全链路自动化测试与高压场景验证，确保了系统在复杂环境下的鲁棒性。</a:t>
            </a:r>
          </a:p>
        </p:txBody>
      </p:sp>
      <p:cxnSp>
        <p:nvCxnSpPr>
          <p:cNvPr id="19" name="Connector 19"/>
          <p:cNvCxnSpPr/>
          <p:nvPr/>
        </p:nvCxnSpPr>
        <p:spPr>
          <a:xfrm rot="5390177">
            <a:off x="4000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77000" y="1397000"/>
            <a:ext cx="539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▍ 未来规划：技术生态持续演进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2159000"/>
            <a:ext cx="5397500" cy="1079500"/>
          </a:xfrm>
          <a:prstGeom prst="roundRect">
            <a:avLst>
              <a:gd name="adj" fmla="val 0"/>
            </a:avLst>
          </a:prstGeom>
          <a:solidFill>
            <a:srgbClr val="FFFBEB">
              <a:alpha val="60000"/>
            </a:srgbClr>
          </a:solidFill>
          <a:ln w="12700" cap="flat" cmpd="sng">
            <a:solidFill>
              <a:srgbClr val="FEF3C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2286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239000" y="22225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多指令集架构适配支持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计划适配RISC-V等新兴开源指令集架构，消除平台壁垒，让zeroTrace能服务于更多异构计算场景，扩大技术影响力。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477000" y="3429000"/>
            <a:ext cx="5397500" cy="1079500"/>
          </a:xfrm>
          <a:prstGeom prst="roundRect">
            <a:avLst>
              <a:gd name="adj" fmla="val 0"/>
            </a:avLst>
          </a:prstGeom>
          <a:solidFill>
            <a:srgbClr val="FFFBEB">
              <a:alpha val="60000"/>
            </a:srgbClr>
          </a:solidFill>
          <a:ln w="12700" cap="flat" cmpd="sng">
            <a:solidFill>
              <a:srgbClr val="FEF3C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3556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239000" y="34925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深度融合 eBPF 技术生态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探索将zeroTrace打造为用户态eBPF运行时的可行性，结合eBPF的灵活性与zeroTrace的低开销，构建更强大的观测工具链。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477000" y="4826000"/>
            <a:ext cx="5397500" cy="1079500"/>
          </a:xfrm>
          <a:prstGeom prst="roundRect">
            <a:avLst>
              <a:gd name="adj" fmla="val 0"/>
            </a:avLst>
          </a:prstGeom>
          <a:solidFill>
            <a:srgbClr val="FFFBEB">
              <a:alpha val="60000"/>
            </a:srgbClr>
          </a:solidFill>
          <a:ln w="12700" cap="flat" cmpd="sng">
            <a:solidFill>
              <a:srgbClr val="FEF3C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9530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239000" y="48895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脚本能力增强与指令重定位优化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提供更丰富的DSL脚本语言支持，降低使用门槛；优化底层指令重定位算法，支持处理更复杂的指令序列，提升探针注入成功率。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6F0432D0-1642-446C-8901-89BD338F372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AI 辅助工具使用说明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9F2281-4A4B-447B-9B27-A988F492308D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13335"/>
          </a:xfrm>
          <a:prstGeom prst="rect">
            <a:avLst/>
          </a:prstGeom>
          <a:solidFill>
            <a:srgbClr val="D8DDE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50B27-9468-49FD-A3C0-CE2903FAD1E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r>
              <a:rPr sz="1350" b="0">
                <a:solidFill>
                  <a:srgbClr val="111111"/>
                </a:solidFill>
                <a:latin typeface="Noto Sans CJK SC"/>
              </a:rPr>
              <a:t>开发和文档整理过程中使用过 AI 辅助工具，主要用于讨论改进方案、辅助编写重复性或规则明确的代码、整理测试清单和调整文档表述。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C48C73-6FE1-4A37-9E65-B77472E09038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20955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BE7119-D43D-4067-B595-6E83CFFD4C4F}"/>
              </a:ext>
            </a:extLst>
          </p:cNvPr>
          <p:cNvSpPr>
            <a:spLocks noGrp="1"/>
          </p:cNvSpPr>
          <p:nvPr/>
        </p:nvSpPr>
        <p:spPr>
          <a:xfrm>
            <a:off x="3009900" y="1809750"/>
            <a:ext cx="82677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D34D95-58A5-4C1D-B9AD-EE5D2D70C93A}"/>
              </a:ext>
            </a:extLst>
          </p:cNvPr>
          <p:cNvSpPr>
            <a:spLocks noGrp="1"/>
          </p:cNvSpPr>
          <p:nvPr/>
        </p:nvSpPr>
        <p:spPr>
          <a:xfrm>
            <a:off x="1104900" y="18859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工具名称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50C200-8F31-429C-836E-0B23BBAC2534}"/>
              </a:ext>
            </a:extLst>
          </p:cNvPr>
          <p:cNvSpPr>
            <a:spLocks noGrp="1"/>
          </p:cNvSpPr>
          <p:nvPr/>
        </p:nvSpPr>
        <p:spPr>
          <a:xfrm>
            <a:off x="3219450" y="18859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OpenAI ChatGPT / Codex 类代码助手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EB4C36-9510-40F4-A05D-960A108E1E02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20955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66F998-69EA-4486-9DF5-1DAB2412F071}"/>
              </a:ext>
            </a:extLst>
          </p:cNvPr>
          <p:cNvSpPr>
            <a:spLocks noGrp="1"/>
          </p:cNvSpPr>
          <p:nvPr/>
        </p:nvSpPr>
        <p:spPr>
          <a:xfrm>
            <a:off x="3009900" y="2419350"/>
            <a:ext cx="82677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58F48C-4958-4B09-8F6F-4F56313C7DED}"/>
              </a:ext>
            </a:extLst>
          </p:cNvPr>
          <p:cNvSpPr>
            <a:spLocks noGrp="1"/>
          </p:cNvSpPr>
          <p:nvPr/>
        </p:nvSpPr>
        <p:spPr>
          <a:xfrm>
            <a:off x="1104900" y="24955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模型名称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195FBE-ED70-4501-8161-6945D9E1BE87}"/>
              </a:ext>
            </a:extLst>
          </p:cNvPr>
          <p:cNvSpPr>
            <a:spLocks noGrp="1"/>
          </p:cNvSpPr>
          <p:nvPr/>
        </p:nvSpPr>
        <p:spPr>
          <a:xfrm>
            <a:off x="3219450" y="24955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OpenAI GPT-5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47819D-E87A-46D6-9022-E7BE0135FCCF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20955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789DAA-DACD-44FE-AED7-96C2C39FB96C}"/>
              </a:ext>
            </a:extLst>
          </p:cNvPr>
          <p:cNvSpPr>
            <a:spLocks noGrp="1"/>
          </p:cNvSpPr>
          <p:nvPr/>
        </p:nvSpPr>
        <p:spPr>
          <a:xfrm>
            <a:off x="3009900" y="3028950"/>
            <a:ext cx="82677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D3D434-1066-4A9E-B106-7E7638BCD51B}"/>
              </a:ext>
            </a:extLst>
          </p:cNvPr>
          <p:cNvSpPr>
            <a:spLocks noGrp="1"/>
          </p:cNvSpPr>
          <p:nvPr/>
        </p:nvSpPr>
        <p:spPr>
          <a:xfrm>
            <a:off x="1104900" y="31051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使用范围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1D91DF-E3A7-4B2F-8A21-BCD48F2BEB59}"/>
              </a:ext>
            </a:extLst>
          </p:cNvPr>
          <p:cNvSpPr>
            <a:spLocks noGrp="1"/>
          </p:cNvSpPr>
          <p:nvPr/>
        </p:nvSpPr>
        <p:spPr>
          <a:xfrm>
            <a:off x="3219450" y="31051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改进方案讨论、重复性代码辅助、边界测试建议、benchmark 现象分析和文档措辞整理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2CF8CA-29F8-41ED-AAE4-E39A8AB5CD90}"/>
              </a:ext>
            </a:extLst>
          </p:cNvPr>
          <p:cNvSpPr>
            <a:spLocks noGrp="1"/>
          </p:cNvSpPr>
          <p:nvPr/>
        </p:nvSpPr>
        <p:spPr>
          <a:xfrm>
            <a:off x="914400" y="3638550"/>
            <a:ext cx="20955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F930A5-816C-44C4-98B4-1D83E9A92CD7}"/>
              </a:ext>
            </a:extLst>
          </p:cNvPr>
          <p:cNvSpPr>
            <a:spLocks noGrp="1"/>
          </p:cNvSpPr>
          <p:nvPr/>
        </p:nvSpPr>
        <p:spPr>
          <a:xfrm>
            <a:off x="3009900" y="3638550"/>
            <a:ext cx="82677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B6F113-32E8-4570-B102-E0D8520416EA}"/>
              </a:ext>
            </a:extLst>
          </p:cNvPr>
          <p:cNvSpPr>
            <a:spLocks noGrp="1"/>
          </p:cNvSpPr>
          <p:nvPr/>
        </p:nvSpPr>
        <p:spPr>
          <a:xfrm>
            <a:off x="1104900" y="37147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人工完成部分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FADAF6-0E57-494C-9A31-88227F6DDDFD}"/>
              </a:ext>
            </a:extLst>
          </p:cNvPr>
          <p:cNvSpPr>
            <a:spLocks noGrp="1"/>
          </p:cNvSpPr>
          <p:nvPr/>
        </p:nvSpPr>
        <p:spPr>
          <a:xfrm>
            <a:off x="3219450" y="37147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总体架构、关键机制设计、核心实现取舍、实验设计和最终结果解释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0FC01D-708E-4F3E-8059-017674136C0A}"/>
              </a:ext>
            </a:extLst>
          </p:cNvPr>
          <p:cNvSpPr>
            <a:spLocks noGrp="1"/>
          </p:cNvSpPr>
          <p:nvPr/>
        </p:nvSpPr>
        <p:spPr>
          <a:xfrm>
            <a:off x="914400" y="4248150"/>
            <a:ext cx="20955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72823F-D056-4E42-BA3A-D71CDDAE0F50}"/>
              </a:ext>
            </a:extLst>
          </p:cNvPr>
          <p:cNvSpPr>
            <a:spLocks noGrp="1"/>
          </p:cNvSpPr>
          <p:nvPr/>
        </p:nvSpPr>
        <p:spPr>
          <a:xfrm>
            <a:off x="3009900" y="4248150"/>
            <a:ext cx="82677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716B9-8739-42F0-A27D-DB330D2E0C8F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人工校验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9C1706F-91F1-4B87-BB02-C3FDC1256797}"/>
              </a:ext>
            </a:extLst>
          </p:cNvPr>
          <p:cNvSpPr>
            <a:spLocks noGrp="1"/>
          </p:cNvSpPr>
          <p:nvPr/>
        </p:nvSpPr>
        <p:spPr>
          <a:xfrm>
            <a:off x="3219450" y="43243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diff 审阅、构建、定向测试、全量测试、benchmark 和文档事实核对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9CFA65A-99BB-4940-8C31-F2E5A72532EE}"/>
              </a:ext>
            </a:extLst>
          </p:cNvPr>
          <p:cNvSpPr>
            <a:spLocks noGrp="1"/>
          </p:cNvSpPr>
          <p:nvPr/>
        </p:nvSpPr>
        <p:spPr>
          <a:xfrm>
            <a:off x="914400" y="4857750"/>
            <a:ext cx="20955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7B9A4F1-084E-43A0-BA87-A2467CDEC706}"/>
              </a:ext>
            </a:extLst>
          </p:cNvPr>
          <p:cNvSpPr>
            <a:spLocks noGrp="1"/>
          </p:cNvSpPr>
          <p:nvPr/>
        </p:nvSpPr>
        <p:spPr>
          <a:xfrm>
            <a:off x="3009900" y="4857750"/>
            <a:ext cx="8267700" cy="457200"/>
          </a:xfrm>
          <a:prstGeom prst="rect">
            <a:avLst/>
          </a:prstGeom>
          <a:noFill/>
          <a:ln w="11430">
            <a:solidFill>
              <a:srgbClr val="CBD3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5172CFF-F8B3-4A81-A8B7-92891257DB2C}"/>
              </a:ext>
            </a:extLst>
          </p:cNvPr>
          <p:cNvSpPr>
            <a:spLocks noGrp="1"/>
          </p:cNvSpPr>
          <p:nvPr/>
        </p:nvSpPr>
        <p:spPr>
          <a:xfrm>
            <a:off x="1104900" y="49339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最终责任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CDF8D21-BAD0-4864-9E46-55498244FD59}"/>
              </a:ext>
            </a:extLst>
          </p:cNvPr>
          <p:cNvSpPr>
            <a:spLocks noGrp="1"/>
          </p:cNvSpPr>
          <p:nvPr/>
        </p:nvSpPr>
        <p:spPr>
          <a:xfrm>
            <a:off x="3219450" y="49339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团队负责方案确认、代码审阅、测试验证和最终提交</a:t>
            </a:r>
          </a:p>
        </p:txBody>
      </p:sp>
    </p:spTree>
    <p:extLst>
      <p:ext uri="{BB962C8B-B14F-4D97-AF65-F5344CB8AC3E}">
        <p14:creationId xmlns:p14="http://schemas.microsoft.com/office/powerpoint/2010/main" val="597806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387600" cy="533400"/>
          </a:xfrm>
          <a:prstGeom prst="roundRect">
            <a:avLst>
              <a:gd name="adj" fmla="val 0"/>
            </a:avLst>
          </a:prstGeom>
          <a:solidFill>
            <a:srgbClr val="1E3264">
              <a:alpha val="100000"/>
            </a:srgbClr>
          </a:solidFill>
          <a:ln w="12700" cap="flat" cmpd="sng">
            <a:solidFill>
              <a:srgbClr val="1E3264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1800" y="762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3876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638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434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96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系统架构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119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881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关键实现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677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439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实验验证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236200" y="0"/>
            <a:ext cx="19685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EEF2F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312400" y="127000"/>
            <a:ext cx="18161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项目总结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10800000">
            <a:off x="11061700" y="533400"/>
            <a:ext cx="304800" cy="215900"/>
          </a:xfrm>
          <a:prstGeom prst="triangle">
            <a:avLst>
              <a:gd name="adj" fmla="val 50000"/>
            </a:avLst>
          </a:prstGeom>
          <a:solidFill>
            <a:srgbClr val="1D3567">
              <a:alpha val="100000"/>
            </a:srgbClr>
          </a:solidFill>
          <a:ln w="12700" cap="flat" cmpd="sng">
            <a:solidFill>
              <a:srgbClr val="1D356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3400" y="736600"/>
            <a:ext cx="76200" cy="533400"/>
          </a:xfrm>
          <a:prstGeom prst="roundRect">
            <a:avLst>
              <a:gd name="adj" fmla="val 0"/>
            </a:avLst>
          </a:prstGeom>
          <a:solidFill>
            <a:srgbClr val="1D35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" y="723900"/>
            <a:ext cx="108204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汇报总结与交流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" y="1219200"/>
            <a:ext cx="10820400" cy="12700"/>
          </a:xfrm>
          <a:prstGeom prst="roundRect">
            <a:avLst>
              <a:gd name="adj" fmla="val 0"/>
            </a:avLst>
          </a:prstGeom>
          <a:solidFill>
            <a:srgbClr val="CBD5E1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5800" y="2540000"/>
            <a:ext cx="108204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254000" rIns="0" bIns="254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D3567"/>
                </a:solidFill>
                <a:latin typeface="Noto Sans"/>
                <a:ea typeface="Noto Sans"/>
                <a:cs typeface="Noto Sans"/>
                <a:sym typeface="Noto Sans"/>
              </a:rPr>
              <a:t>感谢聆听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286000" y="4445000"/>
            <a:ext cx="7620000" cy="254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85800" y="5080000"/>
            <a:ext cx="108204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127000" rtlCol="0" anchor="t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400" b="1" i="0" u="none" strike="noStrike">
                <a:solidFill>
                  <a:srgbClr val="111111"/>
                </a:solidFill>
                <a:latin typeface="Noto Sans"/>
                <a:ea typeface="Noto Sans"/>
                <a:cs typeface="Noto Sans"/>
                <a:sym typeface="Noto Sans"/>
              </a:rPr>
              <a:t>Q &amp; A</a:t>
            </a:r>
            <a:endParaRPr lang="en-US" sz="1100"/>
          </a:p>
          <a:p>
            <a:pPr marL="0" indent="0" algn="ctr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非常感谢各位评委老师的指导，欢迎提出宝贵的意见和建议，共同探讨与交流。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1971</Words>
  <Application>Microsoft Macintosh PowerPoint</Application>
  <PresentationFormat>宽屏</PresentationFormat>
  <Paragraphs>337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Noto Sans CJK SC</vt:lpstr>
      <vt:lpstr>Noto Sans SC</vt:lpstr>
      <vt:lpstr>Arial</vt:lpstr>
      <vt:lpstr>Noto Sans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英理 柏木</cp:lastModifiedBy>
  <cp:revision>14</cp:revision>
  <dcterms:modified xsi:type="dcterms:W3CDTF">2026-06-30T11:12:01Z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{"Label":"1","ContentProducer":"001191110102MACQD9K64010000","ProduceID":"7657130646669626346","ReservedCode1":"","ContentPropagator":"","PropagateID":"","ReservedCode2":""}</vt:lpwstr>
  </property>
</Properties>
</file>