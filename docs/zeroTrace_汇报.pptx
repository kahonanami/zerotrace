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7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543BC97-4A03-4A9F-A1B2-7069CC49F9F2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zeroTrace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B75E8C-B545-479D-A9EA-B8CCA95233D5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轻量级用户态动态探针设计与实现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1A9BB5-E535-4D0B-BC61-E1D170D9F330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238" b="0">
                <a:solidFill>
                  <a:srgbClr val="111111"/>
                </a:solidFill>
                <a:latin typeface="Noto Sans CJK SC"/>
              </a:rPr>
              <a:t>2026 年全国大学生计算机系统能力大赛操作系统设计赛 · OS 功能挑战赛·proj40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BDD92D-A1E4-4579-8EAF-09631201467C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50ADC8-B92A-40E8-A156-7666B6AD8E34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队伍名称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405172-BA35-404C-A134-65A262FB4AE9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动感光波 biubiubiu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42B80F-E8FA-4508-A5CA-7D24CECBB4BA}"/>
              </a:ext>
            </a:extLst>
          </p:cNvPr>
          <p:cNvSpPr>
            <a:spLocks noGrp="1"/>
          </p:cNvSpPr>
          <p:nvPr/>
        </p:nvSpPr>
        <p:spPr>
          <a:xfrm>
            <a:off x="3371850" y="3905250"/>
            <a:ext cx="11430" cy="895350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E54002-0495-4CF3-9EEE-7DBB94D98A6E}"/>
              </a:ext>
            </a:extLst>
          </p:cNvPr>
          <p:cNvSpPr>
            <a:spLocks noGrp="1"/>
          </p:cNvSpPr>
          <p:nvPr/>
        </p:nvSpPr>
        <p:spPr>
          <a:xfrm>
            <a:off x="3529584" y="3981450"/>
            <a:ext cx="18470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学校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7D5446-847C-4481-8D1D-3301A4926075}"/>
              </a:ext>
            </a:extLst>
          </p:cNvPr>
          <p:cNvSpPr>
            <a:spLocks noGrp="1"/>
          </p:cNvSpPr>
          <p:nvPr/>
        </p:nvSpPr>
        <p:spPr>
          <a:xfrm>
            <a:off x="3529584" y="4324350"/>
            <a:ext cx="1847088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中国矿业大学</a:t>
            </a:r>
            <a:endParaRPr sz="1425" b="0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FF1696-D359-42E3-B4D9-EF872CC7AA22}"/>
              </a:ext>
            </a:extLst>
          </p:cNvPr>
          <p:cNvSpPr>
            <a:spLocks noGrp="1"/>
          </p:cNvSpPr>
          <p:nvPr/>
        </p:nvSpPr>
        <p:spPr>
          <a:xfrm>
            <a:off x="5581650" y="3905250"/>
            <a:ext cx="11430" cy="895350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423351-39DA-42C4-A9A2-21DE6E301075}"/>
              </a:ext>
            </a:extLst>
          </p:cNvPr>
          <p:cNvSpPr>
            <a:spLocks noGrp="1"/>
          </p:cNvSpPr>
          <p:nvPr/>
        </p:nvSpPr>
        <p:spPr>
          <a:xfrm>
            <a:off x="5733288" y="3981450"/>
            <a:ext cx="327355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队员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03211E-1BFD-4A12-AEF3-BA6BE59F48F0}"/>
              </a:ext>
            </a:extLst>
          </p:cNvPr>
          <p:cNvSpPr>
            <a:spLocks noGrp="1"/>
          </p:cNvSpPr>
          <p:nvPr/>
        </p:nvSpPr>
        <p:spPr>
          <a:xfrm>
            <a:off x="5733288" y="4324350"/>
            <a:ext cx="327355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275" b="0" dirty="0" err="1">
                <a:solidFill>
                  <a:srgbClr val="111111"/>
                </a:solidFill>
                <a:latin typeface="Noto Sans CJK SC"/>
              </a:rPr>
              <a:t>舒钰尧、曹佳一、倪晨曦</a:t>
            </a:r>
            <a:endParaRPr sz="1275" b="0" dirty="0">
              <a:solidFill>
                <a:srgbClr val="111111"/>
              </a:solidFill>
              <a:latin typeface="Noto Sans CJK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9597BB-1020-41F0-8730-C2815F0064F1}"/>
              </a:ext>
            </a:extLst>
          </p:cNvPr>
          <p:cNvSpPr>
            <a:spLocks noGrp="1"/>
          </p:cNvSpPr>
          <p:nvPr/>
        </p:nvSpPr>
        <p:spPr>
          <a:xfrm>
            <a:off x="9220200" y="3905250"/>
            <a:ext cx="11430" cy="895350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9D6FE3-0BE8-428D-A77C-0082D587444C}"/>
              </a:ext>
            </a:extLst>
          </p:cNvPr>
          <p:cNvSpPr>
            <a:spLocks noGrp="1"/>
          </p:cNvSpPr>
          <p:nvPr/>
        </p:nvSpPr>
        <p:spPr>
          <a:xfrm>
            <a:off x="9372600" y="3981450"/>
            <a:ext cx="213055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指导教师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7B7766-36A1-47C1-A6B3-A76913CFA6E1}"/>
              </a:ext>
            </a:extLst>
          </p:cNvPr>
          <p:cNvSpPr>
            <a:spLocks noGrp="1"/>
          </p:cNvSpPr>
          <p:nvPr/>
        </p:nvSpPr>
        <p:spPr>
          <a:xfrm>
            <a:off x="9372600" y="4324350"/>
            <a:ext cx="213055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林果园</a:t>
            </a:r>
            <a:endParaRPr sz="1425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2E0A23-F2A0-4A16-BA07-8BC6167E2189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10820400" cy="11430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ED361C-E767-476D-9852-51C3E007948B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endParaRPr sz="1350" b="0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027624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6EED37-CA99-4ED1-8B2B-74606806FD11}"/>
              </a:ext>
            </a:extLst>
          </p:cNvPr>
          <p:cNvSpPr>
            <a:spLocks noGrp="1"/>
          </p:cNvSpPr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290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赛题</a:t>
            </a:r>
            <a:r>
              <a:rPr lang="zh-CN" altLang="en-US" sz="290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要求</a:t>
            </a:r>
            <a:endParaRPr sz="2900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B73C36-CFF3-4C85-9C5F-496CA78F658A}"/>
              </a:ext>
            </a:extLst>
          </p:cNvPr>
          <p:cNvSpPr>
            <a:spLocks noGrp="1"/>
          </p:cNvSpPr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3335">
            <a:solidFill>
              <a:srgbClr val="D8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28F9001-383D-498C-BA9B-BC964AC11612}"/>
              </a:ext>
            </a:extLst>
          </p:cNvPr>
          <p:cNvSpPr>
            <a:spLocks noGrp="1"/>
          </p:cNvSpPr>
          <p:nvPr/>
        </p:nvSpPr>
        <p:spPr>
          <a:xfrm>
            <a:off x="713232" y="1719072"/>
            <a:ext cx="5212080" cy="4096512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1430">
            <a:solidFill>
              <a:srgbClr val="DFE5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8E8F1B-9938-45E7-8DFC-2F48B8C3D664}"/>
              </a:ext>
            </a:extLst>
          </p:cNvPr>
          <p:cNvSpPr>
            <a:spLocks noGrp="1"/>
          </p:cNvSpPr>
          <p:nvPr/>
        </p:nvSpPr>
        <p:spPr>
          <a:xfrm>
            <a:off x="914400" y="1883664"/>
            <a:ext cx="4809744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任务目标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5B4F4F5-501F-4BDA-9D92-4D484C5854EA}"/>
              </a:ext>
            </a:extLst>
          </p:cNvPr>
          <p:cNvSpPr>
            <a:spLocks noGrp="1"/>
          </p:cNvSpPr>
          <p:nvPr/>
        </p:nvSpPr>
        <p:spPr>
          <a:xfrm>
            <a:off x="914400" y="2359152"/>
            <a:ext cx="4809744" cy="329184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r>
              <a:rPr sz="1620">
                <a:solidFill>
                  <a:srgbClr val="111111"/>
                </a:solidFill>
                <a:latin typeface="Noto Sans CJK SC"/>
              </a:rPr>
              <a:t>proj40 要求实现一种轻量级用户态动态探针。zeroTrace 先使用 ptrace 取得目标进程控制权，注入 payload 并改写函数入口；目标进程恢复运行后，函数直接跳入进程内的 trampoline 和 stub。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98A66D6-1AA5-4A6E-9BB8-33B157C0BBF2}"/>
              </a:ext>
            </a:extLst>
          </p:cNvPr>
          <p:cNvSpPr>
            <a:spLocks noGrp="1"/>
          </p:cNvSpPr>
          <p:nvPr/>
        </p:nvSpPr>
        <p:spPr>
          <a:xfrm>
            <a:off x="6272784" y="1719072"/>
            <a:ext cx="5138928" cy="1847088"/>
          </a:xfrm>
          <a:prstGeom prst="roundRect">
            <a:avLst>
              <a:gd name="adj" fmla="val 3960"/>
            </a:avLst>
          </a:prstGeom>
          <a:solidFill>
            <a:schemeClr val="bg1"/>
          </a:solidFill>
          <a:ln w="11430">
            <a:solidFill>
              <a:srgbClr val="DFE5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93828F-D1D4-4E7B-BC48-D50D32B47060}"/>
              </a:ext>
            </a:extLst>
          </p:cNvPr>
          <p:cNvSpPr>
            <a:spLocks noGrp="1"/>
          </p:cNvSpPr>
          <p:nvPr/>
        </p:nvSpPr>
        <p:spPr>
          <a:xfrm>
            <a:off x="6473952" y="1883664"/>
            <a:ext cx="4736592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基础功能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0FBC7B-B8BF-460F-B287-D831E8ABD056}"/>
              </a:ext>
            </a:extLst>
          </p:cNvPr>
          <p:cNvSpPr>
            <a:spLocks noGrp="1"/>
          </p:cNvSpPr>
          <p:nvPr/>
        </p:nvSpPr>
        <p:spPr>
          <a:xfrm>
            <a:off x="6473952" y="2359152"/>
            <a:ext cx="4736592" cy="1042416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r>
              <a:rPr sz="1550">
                <a:solidFill>
                  <a:srgbClr val="111111"/>
                </a:solidFill>
                <a:latin typeface="Noto Sans CJK SC"/>
              </a:rPr>
              <a:t>系统支持动态库函数追踪、前 6 个参数捕获、return probe、多 probe 共存、动态开关、线程组级 patch 安全、条件过滤、探针热更新和探针内调用目标进程函数，并提供 x86_64 与 aarch64 两套 ISA 后端。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A481482-2816-426C-9A29-CC0AC3E18215}"/>
              </a:ext>
            </a:extLst>
          </p:cNvPr>
          <p:cNvSpPr>
            <a:spLocks noGrp="1"/>
          </p:cNvSpPr>
          <p:nvPr/>
        </p:nvSpPr>
        <p:spPr>
          <a:xfrm>
            <a:off x="6272784" y="3968496"/>
            <a:ext cx="5138928" cy="1847088"/>
          </a:xfrm>
          <a:prstGeom prst="roundRect">
            <a:avLst>
              <a:gd name="adj" fmla="val 3960"/>
            </a:avLst>
          </a:prstGeom>
          <a:solidFill>
            <a:schemeClr val="bg1"/>
          </a:solidFill>
          <a:ln w="11430">
            <a:solidFill>
              <a:srgbClr val="DFE5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5AD643A-945D-47F0-8DD4-7609B6378246}"/>
              </a:ext>
            </a:extLst>
          </p:cNvPr>
          <p:cNvSpPr>
            <a:spLocks noGrp="1"/>
          </p:cNvSpPr>
          <p:nvPr/>
        </p:nvSpPr>
        <p:spPr>
          <a:xfrm>
            <a:off x="6473952" y="4133088"/>
            <a:ext cx="4736592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性能指标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2759AF5-32FD-4BD4-92C6-23756DB8B81A}"/>
              </a:ext>
            </a:extLst>
          </p:cNvPr>
          <p:cNvSpPr>
            <a:spLocks noGrp="1"/>
          </p:cNvSpPr>
          <p:nvPr/>
        </p:nvSpPr>
        <p:spPr>
          <a:xfrm>
            <a:off x="6473952" y="4608576"/>
            <a:ext cx="4736592" cy="1042416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r>
              <a:rPr sz="1550">
                <a:solidFill>
                  <a:srgbClr val="111111"/>
                </a:solidFill>
                <a:latin typeface="Noto Sans CJK SC"/>
              </a:rPr>
              <a:t>本次 x86_64 评测中，zeroTrace 单次 probe 额外开销均值为 174.45 ns，比 kernel uprobe 低 11.08 倍；probe 安装延迟均值为 0.371 ms，卸载延迟均值为 0.084 ms，均低于赛题指标要求。</a:t>
            </a:r>
          </a:p>
        </p:txBody>
      </p:sp>
    </p:spTree>
    <p:extLst>
      <p:ext uri="{BB962C8B-B14F-4D97-AF65-F5344CB8AC3E}">
        <p14:creationId xmlns:p14="http://schemas.microsoft.com/office/powerpoint/2010/main" val="97654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17CFBE-2FC3-47B8-9438-D9C51C5FF3A4}"/>
              </a:ext>
            </a:extLst>
          </p:cNvPr>
          <p:cNvSpPr>
            <a:spLocks noGrp="1"/>
          </p:cNvSpPr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2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基础功能完成情况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D6B42A-A4DD-4113-BF98-5F7348E1EF77}"/>
              </a:ext>
            </a:extLst>
          </p:cNvPr>
          <p:cNvSpPr>
            <a:spLocks noGrp="1"/>
          </p:cNvSpPr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3335">
            <a:solidFill>
              <a:srgbClr val="D8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9A2FE3-C445-4F7C-ACD6-F025F8C051B0}"/>
              </a:ext>
            </a:extLst>
          </p:cNvPr>
          <p:cNvSpPr>
            <a:spLocks noGrp="1"/>
          </p:cNvSpPr>
          <p:nvPr/>
        </p:nvSpPr>
        <p:spPr>
          <a:xfrm>
            <a:off x="658368" y="1572768"/>
            <a:ext cx="349300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9C48464-7B86-4A80-9C14-2260A6AF45A0}"/>
              </a:ext>
            </a:extLst>
          </p:cNvPr>
          <p:cNvSpPr>
            <a:spLocks noGrp="1"/>
          </p:cNvSpPr>
          <p:nvPr/>
        </p:nvSpPr>
        <p:spPr>
          <a:xfrm>
            <a:off x="804672" y="1719072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640567-39F3-4FF5-9107-00970B1A2B99}"/>
              </a:ext>
            </a:extLst>
          </p:cNvPr>
          <p:cNvSpPr>
            <a:spLocks noGrp="1"/>
          </p:cNvSpPr>
          <p:nvPr/>
        </p:nvSpPr>
        <p:spPr>
          <a:xfrm>
            <a:off x="804672" y="1769364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F1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102644-DED7-4441-B2CC-D967203FBF1B}"/>
              </a:ext>
            </a:extLst>
          </p:cNvPr>
          <p:cNvSpPr>
            <a:spLocks noGrp="1"/>
          </p:cNvSpPr>
          <p:nvPr/>
        </p:nvSpPr>
        <p:spPr>
          <a:xfrm>
            <a:off x="1426464" y="1709928"/>
            <a:ext cx="2578608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动态库探针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1059FC3-2BD9-4381-84EE-B7341A78F092}"/>
              </a:ext>
            </a:extLst>
          </p:cNvPr>
          <p:cNvSpPr>
            <a:spLocks noGrp="1"/>
          </p:cNvSpPr>
          <p:nvPr/>
        </p:nvSpPr>
        <p:spPr>
          <a:xfrm>
            <a:off x="841248" y="2194560"/>
            <a:ext cx="3127248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支持 read/write/printf 等动态库函数，命中后进入目标进程内的 trampoline。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568AA15-4A0D-4BB9-9D4E-478E29D4BFFB}"/>
              </a:ext>
            </a:extLst>
          </p:cNvPr>
          <p:cNvSpPr>
            <a:spLocks noGrp="1"/>
          </p:cNvSpPr>
          <p:nvPr/>
        </p:nvSpPr>
        <p:spPr>
          <a:xfrm>
            <a:off x="4462272" y="1572768"/>
            <a:ext cx="349300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8A870A6-0973-47E3-A54F-84414E5D4038}"/>
              </a:ext>
            </a:extLst>
          </p:cNvPr>
          <p:cNvSpPr>
            <a:spLocks noGrp="1"/>
          </p:cNvSpPr>
          <p:nvPr/>
        </p:nvSpPr>
        <p:spPr>
          <a:xfrm>
            <a:off x="4608576" y="1719072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69223C-11FC-44DA-9355-6B8682A44CEE}"/>
              </a:ext>
            </a:extLst>
          </p:cNvPr>
          <p:cNvSpPr>
            <a:spLocks noGrp="1"/>
          </p:cNvSpPr>
          <p:nvPr/>
        </p:nvSpPr>
        <p:spPr>
          <a:xfrm>
            <a:off x="4608576" y="1769364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F2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517A9F3-F1DA-499C-A6F0-572549BAC778}"/>
              </a:ext>
            </a:extLst>
          </p:cNvPr>
          <p:cNvSpPr>
            <a:spLocks noGrp="1"/>
          </p:cNvSpPr>
          <p:nvPr/>
        </p:nvSpPr>
        <p:spPr>
          <a:xfrm>
            <a:off x="5230368" y="1709928"/>
            <a:ext cx="2578608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参数获取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EBE1BF1-D22A-4448-8160-169E974AABE6}"/>
              </a:ext>
            </a:extLst>
          </p:cNvPr>
          <p:cNvSpPr>
            <a:spLocks noGrp="1"/>
          </p:cNvSpPr>
          <p:nvPr/>
        </p:nvSpPr>
        <p:spPr>
          <a:xfrm>
            <a:off x="4645152" y="2194560"/>
            <a:ext cx="3127248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x86_64 映射 rdi/rsi/rdx/rcx/r8/r9，aarch64 映射 x0..x5；浮点参数映射到统一 fp_args[] 槽位。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80370E3-A32E-4360-BB94-69641EAB2168}"/>
              </a:ext>
            </a:extLst>
          </p:cNvPr>
          <p:cNvSpPr>
            <a:spLocks noGrp="1"/>
          </p:cNvSpPr>
          <p:nvPr/>
        </p:nvSpPr>
        <p:spPr>
          <a:xfrm>
            <a:off x="8266176" y="1572768"/>
            <a:ext cx="349300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AE6C4D8-D24A-45D7-BA09-6EC7B571E3BB}"/>
              </a:ext>
            </a:extLst>
          </p:cNvPr>
          <p:cNvSpPr>
            <a:spLocks noGrp="1"/>
          </p:cNvSpPr>
          <p:nvPr/>
        </p:nvSpPr>
        <p:spPr>
          <a:xfrm>
            <a:off x="8412480" y="1719072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1B4BB18-FB32-478E-98F2-2069492D7584}"/>
              </a:ext>
            </a:extLst>
          </p:cNvPr>
          <p:cNvSpPr>
            <a:spLocks noGrp="1"/>
          </p:cNvSpPr>
          <p:nvPr/>
        </p:nvSpPr>
        <p:spPr>
          <a:xfrm>
            <a:off x="8412480" y="1769364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F3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7D039A1-E964-44ED-92C1-5B285CAB4887}"/>
              </a:ext>
            </a:extLst>
          </p:cNvPr>
          <p:cNvSpPr>
            <a:spLocks noGrp="1"/>
          </p:cNvSpPr>
          <p:nvPr/>
        </p:nvSpPr>
        <p:spPr>
          <a:xfrm>
            <a:off x="9034272" y="1709928"/>
            <a:ext cx="2578608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返回值捕获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00262F3-9B4F-4F26-8A0D-E5D4B5D1E4EC}"/>
              </a:ext>
            </a:extLst>
          </p:cNvPr>
          <p:cNvSpPr>
            <a:spLocks noGrp="1"/>
          </p:cNvSpPr>
          <p:nvPr/>
        </p:nvSpPr>
        <p:spPr>
          <a:xfrm>
            <a:off x="8449056" y="2194560"/>
            <a:ext cx="3127248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entry stub 保存真实返回地址并改写返回链；函数返回时先进入 exit stub，记录返回值后再跳回原返回地址。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11DDB2E-7F9D-4B27-BD2C-E0F731B5DB0F}"/>
              </a:ext>
            </a:extLst>
          </p:cNvPr>
          <p:cNvSpPr>
            <a:spLocks noGrp="1"/>
          </p:cNvSpPr>
          <p:nvPr/>
        </p:nvSpPr>
        <p:spPr>
          <a:xfrm>
            <a:off x="658368" y="3054096"/>
            <a:ext cx="349300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941199C-8E54-48D2-A531-358D46F64CA2}"/>
              </a:ext>
            </a:extLst>
          </p:cNvPr>
          <p:cNvSpPr>
            <a:spLocks noGrp="1"/>
          </p:cNvSpPr>
          <p:nvPr/>
        </p:nvSpPr>
        <p:spPr>
          <a:xfrm>
            <a:off x="804672" y="3200400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12711DA-3BA3-4B7E-BCDB-1BC1600F4C17}"/>
              </a:ext>
            </a:extLst>
          </p:cNvPr>
          <p:cNvSpPr>
            <a:spLocks noGrp="1"/>
          </p:cNvSpPr>
          <p:nvPr/>
        </p:nvSpPr>
        <p:spPr>
          <a:xfrm>
            <a:off x="804672" y="3250692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F4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D716B5B-BFE3-4D90-8C5C-108022A1C3DB}"/>
              </a:ext>
            </a:extLst>
          </p:cNvPr>
          <p:cNvSpPr>
            <a:spLocks noGrp="1"/>
          </p:cNvSpPr>
          <p:nvPr/>
        </p:nvSpPr>
        <p:spPr>
          <a:xfrm>
            <a:off x="1426464" y="3191256"/>
            <a:ext cx="2578608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清理恢复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8643C5E-9126-4A18-A2D5-E8CACDDF769A}"/>
              </a:ext>
            </a:extLst>
          </p:cNvPr>
          <p:cNvSpPr>
            <a:spLocks noGrp="1"/>
          </p:cNvSpPr>
          <p:nvPr/>
        </p:nvSpPr>
        <p:spPr>
          <a:xfrm>
            <a:off x="841248" y="3675888"/>
            <a:ext cx="3127248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untrace/detach 按 probe 元数据恢复入口字节；trampoline slot 释放后进入空闲表，pool 全空时远程 munmap。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5F951E0-D690-45F2-9D02-E12ACC0AD3C2}"/>
              </a:ext>
            </a:extLst>
          </p:cNvPr>
          <p:cNvSpPr>
            <a:spLocks noGrp="1"/>
          </p:cNvSpPr>
          <p:nvPr/>
        </p:nvSpPr>
        <p:spPr>
          <a:xfrm>
            <a:off x="4462272" y="3054096"/>
            <a:ext cx="349300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B0E5688-B383-4357-8797-BED82F277DAE}"/>
              </a:ext>
            </a:extLst>
          </p:cNvPr>
          <p:cNvSpPr>
            <a:spLocks noGrp="1"/>
          </p:cNvSpPr>
          <p:nvPr/>
        </p:nvSpPr>
        <p:spPr>
          <a:xfrm>
            <a:off x="4608576" y="3200400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7FAF0A3-5169-43C6-86B8-3BE65DD4C032}"/>
              </a:ext>
            </a:extLst>
          </p:cNvPr>
          <p:cNvSpPr>
            <a:spLocks noGrp="1"/>
          </p:cNvSpPr>
          <p:nvPr/>
        </p:nvSpPr>
        <p:spPr>
          <a:xfrm>
            <a:off x="4608576" y="3250692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F5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691DA66-0E90-47C6-8ED9-4B533A7FDDC9}"/>
              </a:ext>
            </a:extLst>
          </p:cNvPr>
          <p:cNvSpPr>
            <a:spLocks noGrp="1"/>
          </p:cNvSpPr>
          <p:nvPr/>
        </p:nvSpPr>
        <p:spPr>
          <a:xfrm>
            <a:off x="5230368" y="3191256"/>
            <a:ext cx="2578608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动态开关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A3D7164-EA88-48CF-AB0C-BFF07EFF6DB2}"/>
              </a:ext>
            </a:extLst>
          </p:cNvPr>
          <p:cNvSpPr>
            <a:spLocks noGrp="1"/>
          </p:cNvSpPr>
          <p:nvPr/>
        </p:nvSpPr>
        <p:spPr>
          <a:xfrm>
            <a:off x="4645152" y="3675888"/>
            <a:ext cx="3127248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disable 恢复入口 patch，probe 元数据与 slot 继续可用；enable 复用原 slot 重装 patch。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CB92809-686C-4451-B0DE-3018FC8C7E71}"/>
              </a:ext>
            </a:extLst>
          </p:cNvPr>
          <p:cNvSpPr>
            <a:spLocks noGrp="1"/>
          </p:cNvSpPr>
          <p:nvPr/>
        </p:nvSpPr>
        <p:spPr>
          <a:xfrm>
            <a:off x="8266176" y="3054096"/>
            <a:ext cx="349300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E9F0B90-CB67-4A8C-903D-B0D68809A54F}"/>
              </a:ext>
            </a:extLst>
          </p:cNvPr>
          <p:cNvSpPr>
            <a:spLocks noGrp="1"/>
          </p:cNvSpPr>
          <p:nvPr/>
        </p:nvSpPr>
        <p:spPr>
          <a:xfrm>
            <a:off x="8412480" y="3200400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8523FFF-8BAB-4065-A14C-C030CD56D780}"/>
              </a:ext>
            </a:extLst>
          </p:cNvPr>
          <p:cNvSpPr>
            <a:spLocks noGrp="1"/>
          </p:cNvSpPr>
          <p:nvPr/>
        </p:nvSpPr>
        <p:spPr>
          <a:xfrm>
            <a:off x="8412480" y="3250692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F6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B961338-8C9F-4440-A2FC-42D6888A28A3}"/>
              </a:ext>
            </a:extLst>
          </p:cNvPr>
          <p:cNvSpPr>
            <a:spLocks noGrp="1"/>
          </p:cNvSpPr>
          <p:nvPr/>
        </p:nvSpPr>
        <p:spPr>
          <a:xfrm>
            <a:off x="9034272" y="3191256"/>
            <a:ext cx="2578608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多探针共存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3838914-9204-4324-9716-64FA11DA519D}"/>
              </a:ext>
            </a:extLst>
          </p:cNvPr>
          <p:cNvSpPr>
            <a:spLocks noGrp="1"/>
          </p:cNvSpPr>
          <p:nvPr/>
        </p:nvSpPr>
        <p:spPr>
          <a:xfrm>
            <a:off x="8449056" y="3675888"/>
            <a:ext cx="3127248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probe 表容量为 32，自动化测试在同一进程中安装 probe_fn01..probe_fn16 并校验全部命中。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8A2BD7B-0CAC-4D88-9E2D-31208BA6F184}"/>
              </a:ext>
            </a:extLst>
          </p:cNvPr>
          <p:cNvSpPr>
            <a:spLocks noGrp="1"/>
          </p:cNvSpPr>
          <p:nvPr/>
        </p:nvSpPr>
        <p:spPr>
          <a:xfrm>
            <a:off x="658368" y="4535424"/>
            <a:ext cx="349300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C90E8C9-CE8C-4C39-BDDA-CE4F4CF42EB6}"/>
              </a:ext>
            </a:extLst>
          </p:cNvPr>
          <p:cNvSpPr>
            <a:spLocks noGrp="1"/>
          </p:cNvSpPr>
          <p:nvPr/>
        </p:nvSpPr>
        <p:spPr>
          <a:xfrm>
            <a:off x="804672" y="4681728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BDDCB0A-820A-453F-ABDC-FDD7205EB542}"/>
              </a:ext>
            </a:extLst>
          </p:cNvPr>
          <p:cNvSpPr>
            <a:spLocks noGrp="1"/>
          </p:cNvSpPr>
          <p:nvPr/>
        </p:nvSpPr>
        <p:spPr>
          <a:xfrm>
            <a:off x="804672" y="4732020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F7</a:t>
            </a: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BEE151D-1811-4C31-A7AB-30DC7E53FE2D}"/>
              </a:ext>
            </a:extLst>
          </p:cNvPr>
          <p:cNvSpPr>
            <a:spLocks noGrp="1"/>
          </p:cNvSpPr>
          <p:nvPr/>
        </p:nvSpPr>
        <p:spPr>
          <a:xfrm>
            <a:off x="1426464" y="4672584"/>
            <a:ext cx="2578608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多线程安全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18466F6-A665-4ED8-B610-F66578397DA6}"/>
              </a:ext>
            </a:extLst>
          </p:cNvPr>
          <p:cNvSpPr>
            <a:spLocks noGrp="1"/>
          </p:cNvSpPr>
          <p:nvPr/>
        </p:nvSpPr>
        <p:spPr>
          <a:xfrm>
            <a:off x="841248" y="5157216"/>
            <a:ext cx="3127248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线程组级 seize/interrupt/continue/detach；patch 前检查各 TID 的 PC，位于 patch 区间时 single-step 离开。</a:t>
            </a:r>
          </a:p>
        </p:txBody>
      </p:sp>
    </p:spTree>
    <p:extLst>
      <p:ext uri="{BB962C8B-B14F-4D97-AF65-F5344CB8AC3E}">
        <p14:creationId xmlns:p14="http://schemas.microsoft.com/office/powerpoint/2010/main" val="40833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EBAB4F-266B-4BB1-9A11-569889E4C8A6}"/>
              </a:ext>
            </a:extLst>
          </p:cNvPr>
          <p:cNvSpPr>
            <a:spLocks noGrp="1"/>
          </p:cNvSpPr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2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进阶项完成情况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782A01-38EF-4A31-A2E4-6586BE2FE73E}"/>
              </a:ext>
            </a:extLst>
          </p:cNvPr>
          <p:cNvSpPr>
            <a:spLocks noGrp="1"/>
          </p:cNvSpPr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3335">
            <a:solidFill>
              <a:srgbClr val="D8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E6884BF-6AB5-40EB-A949-89C9B3ED7466}"/>
              </a:ext>
            </a:extLst>
          </p:cNvPr>
          <p:cNvSpPr>
            <a:spLocks noGrp="1"/>
          </p:cNvSpPr>
          <p:nvPr/>
        </p:nvSpPr>
        <p:spPr>
          <a:xfrm>
            <a:off x="749808" y="1783080"/>
            <a:ext cx="34564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170ADE-00F5-45FF-8841-1901B19E7333}"/>
              </a:ext>
            </a:extLst>
          </p:cNvPr>
          <p:cNvSpPr>
            <a:spLocks noGrp="1"/>
          </p:cNvSpPr>
          <p:nvPr/>
        </p:nvSpPr>
        <p:spPr>
          <a:xfrm>
            <a:off x="896112" y="1929384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3F0CC2-B30C-42FF-905D-0DCD1C244365}"/>
              </a:ext>
            </a:extLst>
          </p:cNvPr>
          <p:cNvSpPr>
            <a:spLocks noGrp="1"/>
          </p:cNvSpPr>
          <p:nvPr/>
        </p:nvSpPr>
        <p:spPr>
          <a:xfrm>
            <a:off x="896112" y="1979676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A1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A1932F9-2BEC-4152-851B-87CE537E7C6B}"/>
              </a:ext>
            </a:extLst>
          </p:cNvPr>
          <p:cNvSpPr>
            <a:spLocks noGrp="1"/>
          </p:cNvSpPr>
          <p:nvPr/>
        </p:nvSpPr>
        <p:spPr>
          <a:xfrm>
            <a:off x="1517904" y="1920240"/>
            <a:ext cx="2542032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x86_64 + aarch64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99F86EC-18CD-4AF9-8E58-A9D28E8C729D}"/>
              </a:ext>
            </a:extLst>
          </p:cNvPr>
          <p:cNvSpPr>
            <a:spLocks noGrp="1"/>
          </p:cNvSpPr>
          <p:nvPr/>
        </p:nvSpPr>
        <p:spPr>
          <a:xfrm>
            <a:off x="932688" y="2404872"/>
            <a:ext cx="3090672" cy="7132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公共控制层复用，ISA 相关 patch、</a:t>
            </a:r>
          </a:p>
          <a:p>
            <a:r>
              <a:rPr sz="1280">
                <a:solidFill>
                  <a:srgbClr val="111111"/>
                </a:solidFill>
                <a:latin typeface="Noto Sans CJK SC"/>
              </a:rPr>
              <a:t>远程执行、trampoline builder 和 stub 分别落在</a:t>
            </a:r>
          </a:p>
          <a:p>
            <a:r>
              <a:rPr sz="1280">
                <a:solidFill>
                  <a:srgbClr val="111111"/>
                </a:solidFill>
                <a:latin typeface="Noto Sans CJK SC"/>
              </a:rPr>
              <a:t>src/isa/x86_64 与 src/isa/aarch64。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2B2AFA2-E119-4F9D-A8AF-1AABC6D65582}"/>
              </a:ext>
            </a:extLst>
          </p:cNvPr>
          <p:cNvSpPr>
            <a:spLocks noGrp="1"/>
          </p:cNvSpPr>
          <p:nvPr/>
        </p:nvSpPr>
        <p:spPr>
          <a:xfrm>
            <a:off x="4498848" y="1783080"/>
            <a:ext cx="34564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17B59FA-7085-4648-9A5D-953149E83BF3}"/>
              </a:ext>
            </a:extLst>
          </p:cNvPr>
          <p:cNvSpPr>
            <a:spLocks noGrp="1"/>
          </p:cNvSpPr>
          <p:nvPr/>
        </p:nvSpPr>
        <p:spPr>
          <a:xfrm>
            <a:off x="4645152" y="1929384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A5367D-19F6-4B76-9627-F9A30C4ACD27}"/>
              </a:ext>
            </a:extLst>
          </p:cNvPr>
          <p:cNvSpPr>
            <a:spLocks noGrp="1"/>
          </p:cNvSpPr>
          <p:nvPr/>
        </p:nvSpPr>
        <p:spPr>
          <a:xfrm>
            <a:off x="4645152" y="1979676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A2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4760F4D-5517-48AB-922C-D8777D729831}"/>
              </a:ext>
            </a:extLst>
          </p:cNvPr>
          <p:cNvSpPr>
            <a:spLocks noGrp="1"/>
          </p:cNvSpPr>
          <p:nvPr/>
        </p:nvSpPr>
        <p:spPr>
          <a:xfrm>
            <a:off x="5266944" y="1920240"/>
            <a:ext cx="2542032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条件探针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FB7D9AA-DE1D-4DCC-86DD-BC4E533A398C}"/>
              </a:ext>
            </a:extLst>
          </p:cNvPr>
          <p:cNvSpPr>
            <a:spLocks noGrp="1"/>
          </p:cNvSpPr>
          <p:nvPr/>
        </p:nvSpPr>
        <p:spPr>
          <a:xfrm>
            <a:off x="4681728" y="2404872"/>
            <a:ext cx="3090672" cy="7132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if 后字符串按完整布尔表达式解析，支持 arg0..arg5、十进制/十六进制常量、比较、算术、括号和短路求值。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CE919C7-5E2D-47DB-9B14-F79C897BA099}"/>
              </a:ext>
            </a:extLst>
          </p:cNvPr>
          <p:cNvSpPr>
            <a:spLocks noGrp="1"/>
          </p:cNvSpPr>
          <p:nvPr/>
        </p:nvSpPr>
        <p:spPr>
          <a:xfrm>
            <a:off x="8247888" y="1783080"/>
            <a:ext cx="34564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F2756C7-9752-4556-B357-E35FB466725C}"/>
              </a:ext>
            </a:extLst>
          </p:cNvPr>
          <p:cNvSpPr>
            <a:spLocks noGrp="1"/>
          </p:cNvSpPr>
          <p:nvPr/>
        </p:nvSpPr>
        <p:spPr>
          <a:xfrm>
            <a:off x="8394192" y="1929384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4B19158-7C40-4AA0-8E10-0FE765F7AF63}"/>
              </a:ext>
            </a:extLst>
          </p:cNvPr>
          <p:cNvSpPr>
            <a:spLocks noGrp="1"/>
          </p:cNvSpPr>
          <p:nvPr/>
        </p:nvSpPr>
        <p:spPr>
          <a:xfrm>
            <a:off x="8394192" y="1979676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A3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DAB83CE-E1A0-4654-AA48-05443AE434A3}"/>
              </a:ext>
            </a:extLst>
          </p:cNvPr>
          <p:cNvSpPr>
            <a:spLocks noGrp="1"/>
          </p:cNvSpPr>
          <p:nvPr/>
        </p:nvSpPr>
        <p:spPr>
          <a:xfrm>
            <a:off x="9015984" y="1920240"/>
            <a:ext cx="2542032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事件流合流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7DCE3E0-E39D-403C-B7D3-87825B8BD91E}"/>
              </a:ext>
            </a:extLst>
          </p:cNvPr>
          <p:cNvSpPr>
            <a:spLocks noGrp="1"/>
          </p:cNvSpPr>
          <p:nvPr/>
        </p:nvSpPr>
        <p:spPr>
          <a:xfrm>
            <a:off x="8430768" y="2404872"/>
            <a:ext cx="3090672" cy="7132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日志包含 comm、pid/tid、CPU、</a:t>
            </a:r>
          </a:p>
          <a:p>
            <a:r>
              <a:rPr sz="1280">
                <a:solidFill>
                  <a:srgbClr val="111111"/>
                </a:solidFill>
                <a:latin typeface="Noto Sans CJK SC"/>
              </a:rPr>
              <a:t>单调时钟时间戳和事件名；</a:t>
            </a:r>
          </a:p>
          <a:p>
            <a:r>
              <a:rPr sz="1280">
                <a:solidFill>
                  <a:srgbClr val="111111"/>
                </a:solidFill>
                <a:latin typeface="Noto Sans CJK SC"/>
              </a:rPr>
              <a:t>scripts/merge_trace_events.py 能把</a:t>
            </a:r>
          </a:p>
          <a:p>
            <a:r>
              <a:rPr sz="1280">
                <a:solidFill>
                  <a:srgbClr val="111111"/>
                </a:solidFill>
                <a:latin typeface="Noto Sans CJK SC"/>
              </a:rPr>
              <a:t>zeroTrace、perf script 和 ftrace 风格事件按时间排序。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4E574B9-41D0-41F7-A6A0-BC7BC039D9B9}"/>
              </a:ext>
            </a:extLst>
          </p:cNvPr>
          <p:cNvSpPr>
            <a:spLocks noGrp="1"/>
          </p:cNvSpPr>
          <p:nvPr/>
        </p:nvSpPr>
        <p:spPr>
          <a:xfrm>
            <a:off x="2633472" y="3986784"/>
            <a:ext cx="34564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B77D756-A0DE-4B7C-A533-23DDD322EA88}"/>
              </a:ext>
            </a:extLst>
          </p:cNvPr>
          <p:cNvSpPr>
            <a:spLocks noGrp="1"/>
          </p:cNvSpPr>
          <p:nvPr/>
        </p:nvSpPr>
        <p:spPr>
          <a:xfrm>
            <a:off x="2779776" y="4133088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B5B7C6B-24A8-4331-B212-9C6BDC15A782}"/>
              </a:ext>
            </a:extLst>
          </p:cNvPr>
          <p:cNvSpPr>
            <a:spLocks noGrp="1"/>
          </p:cNvSpPr>
          <p:nvPr/>
        </p:nvSpPr>
        <p:spPr>
          <a:xfrm>
            <a:off x="2779776" y="4183380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A4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134D4D6-B725-4686-B236-DC48168E9BCA}"/>
              </a:ext>
            </a:extLst>
          </p:cNvPr>
          <p:cNvSpPr>
            <a:spLocks noGrp="1"/>
          </p:cNvSpPr>
          <p:nvPr/>
        </p:nvSpPr>
        <p:spPr>
          <a:xfrm>
            <a:off x="3401568" y="4123944"/>
            <a:ext cx="2542032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探针内调用函数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8639698-4B68-42B7-9242-D8DF326916F7}"/>
              </a:ext>
            </a:extLst>
          </p:cNvPr>
          <p:cNvSpPr>
            <a:spLocks noGrp="1"/>
          </p:cNvSpPr>
          <p:nvPr/>
        </p:nvSpPr>
        <p:spPr>
          <a:xfrm>
            <a:off x="2816352" y="4608576"/>
            <a:ext cx="3090672" cy="7132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update &lt;probe&gt; call &lt;callee&gt; ... 会把 callee 地址和参数来源写入远程 action 表；</a:t>
            </a:r>
          </a:p>
          <a:p>
            <a:r>
              <a:rPr sz="1280">
                <a:solidFill>
                  <a:srgbClr val="111111"/>
                </a:solidFill>
                <a:latin typeface="Noto Sans CJK SC"/>
              </a:rPr>
              <a:t>payload 在目标进程上下文内调用 callee 并写 call event。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0315315-85D8-44A6-8526-5EDB90C52B4D}"/>
              </a:ext>
            </a:extLst>
          </p:cNvPr>
          <p:cNvSpPr>
            <a:spLocks noGrp="1"/>
          </p:cNvSpPr>
          <p:nvPr/>
        </p:nvSpPr>
        <p:spPr>
          <a:xfrm>
            <a:off x="6382512" y="3986784"/>
            <a:ext cx="34564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795">
            <a:solidFill>
              <a:srgbClr val="DD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5A470B9-C726-4A7C-B91F-0E0975B6ED08}"/>
              </a:ext>
            </a:extLst>
          </p:cNvPr>
          <p:cNvSpPr>
            <a:spLocks noGrp="1"/>
          </p:cNvSpPr>
          <p:nvPr/>
        </p:nvSpPr>
        <p:spPr>
          <a:xfrm>
            <a:off x="6528816" y="4133088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A42E2D2-6F3D-4DCF-A271-1BE38C225CA0}"/>
              </a:ext>
            </a:extLst>
          </p:cNvPr>
          <p:cNvSpPr>
            <a:spLocks noGrp="1"/>
          </p:cNvSpPr>
          <p:nvPr/>
        </p:nvSpPr>
        <p:spPr>
          <a:xfrm>
            <a:off x="6528816" y="4183380"/>
            <a:ext cx="530352" cy="16459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5F8F"/>
                </a:solidFill>
                <a:latin typeface="Noto Sans CJK SC"/>
                <a:ea typeface="Noto Sans CJK SC"/>
                <a:cs typeface="Noto Sans CJK SC"/>
              </a:rPr>
              <a:t>A5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EE0B649-E3FB-4064-9820-77A3490497A9}"/>
              </a:ext>
            </a:extLst>
          </p:cNvPr>
          <p:cNvSpPr>
            <a:spLocks noGrp="1"/>
          </p:cNvSpPr>
          <p:nvPr/>
        </p:nvSpPr>
        <p:spPr>
          <a:xfrm>
            <a:off x="7150608" y="4123944"/>
            <a:ext cx="2542032" cy="32918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探针热更新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ED6A2DB-8A5A-4D7E-AB51-B4EE14C1A065}"/>
              </a:ext>
            </a:extLst>
          </p:cNvPr>
          <p:cNvSpPr>
            <a:spLocks noGrp="1"/>
          </p:cNvSpPr>
          <p:nvPr/>
        </p:nvSpPr>
        <p:spPr>
          <a:xfrm>
            <a:off x="6565392" y="4608576"/>
            <a:ext cx="3090672" cy="7132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r>
              <a:rPr sz="1280">
                <a:solidFill>
                  <a:srgbClr val="111111"/>
                </a:solidFill>
                <a:latin typeface="Noto Sans CJK SC"/>
              </a:rPr>
              <a:t>filter、call action、enable/disable 状态可在目标运行中更新；热更新用例包含 staged 更新和 live call action 切换。</a:t>
            </a:r>
          </a:p>
        </p:txBody>
      </p:sp>
    </p:spTree>
    <p:extLst>
      <p:ext uri="{BB962C8B-B14F-4D97-AF65-F5344CB8AC3E}">
        <p14:creationId xmlns:p14="http://schemas.microsoft.com/office/powerpoint/2010/main" val="138389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95BDF281-AFBE-4B2B-A04C-3D998DD08E1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同类方案对比</a:t>
            </a:r>
            <a:endParaRPr sz="2550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9FFFAA-32EE-40C3-B213-F2DC876D46FA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D9C919-5190-4B93-8870-19E8316A2116}"/>
              </a:ext>
            </a:extLst>
          </p:cNvPr>
          <p:cNvSpPr>
            <a:spLocks noGrp="1"/>
          </p:cNvSpPr>
          <p:nvPr/>
        </p:nvSpPr>
        <p:spPr>
          <a:xfrm>
            <a:off x="704850" y="1190625"/>
            <a:ext cx="10744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350" b="0">
                <a:solidFill>
                  <a:srgbClr val="111111"/>
                </a:solidFill>
                <a:latin typeface="Noto Sans CJK SC"/>
              </a:rPr>
              <a:t>功能挑战赛道要求说明项目测试结果的功能、性能和创新性，并与类似项目进行对比。zeroTrace 面向“用户态函数命中后的低开销观测”这一场景设计。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65059E-569B-4E42-9F3D-19C502569319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6858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47D65C-832D-4B56-AA3D-5B63EE64F63F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kernel uprobe / eBPF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DF4155-22D8-4088-942E-9BB294D2D7E4}"/>
              </a:ext>
            </a:extLst>
          </p:cNvPr>
          <p:cNvSpPr>
            <a:spLocks noGrp="1"/>
          </p:cNvSpPr>
          <p:nvPr/>
        </p:nvSpPr>
        <p:spPr>
          <a:xfrm>
            <a:off x="3162300" y="1981200"/>
            <a:ext cx="8077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命中路径会发生用户态到内核态切换；zeroTrace 把 entry/return 处理放在目标进程内，事件写入共享 trace buffer，本轮 x86_64 benchmark 中额外开销均值为 174.45 ns/call。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2ED48C-85B4-4CB5-93DC-B5CD3BC1BA1C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10820400" cy="6858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26CE87-CDDA-452F-855E-6891A62EA427}"/>
              </a:ext>
            </a:extLst>
          </p:cNvPr>
          <p:cNvSpPr>
            <a:spLocks noGrp="1"/>
          </p:cNvSpPr>
          <p:nvPr/>
        </p:nvSpPr>
        <p:spPr>
          <a:xfrm>
            <a:off x="895350" y="283845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ltrace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60B70F-9367-4FBA-BCED-3A9A50D8DA74}"/>
              </a:ext>
            </a:extLst>
          </p:cNvPr>
          <p:cNvSpPr>
            <a:spLocks noGrp="1"/>
          </p:cNvSpPr>
          <p:nvPr/>
        </p:nvSpPr>
        <p:spPr>
          <a:xfrm>
            <a:off x="3162300" y="2800350"/>
            <a:ext cx="8077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ltrace 更偏调试输出；zeroTrace 面向运行中 patch、return probe、多线程安全和低开销 benchmark，同时借鉴 ltrace 风格配置完成参数展示。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E6B91E-DDBE-40D3-9673-2704612561B2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10820400" cy="6858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440B10-20D6-443D-B2CA-F85723BF54FB}"/>
              </a:ext>
            </a:extLst>
          </p:cNvPr>
          <p:cNvSpPr>
            <a:spLocks noGrp="1"/>
          </p:cNvSpPr>
          <p:nvPr/>
        </p:nvSpPr>
        <p:spPr>
          <a:xfrm>
            <a:off x="895350" y="365760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SystemTap / DTrace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186B3D-959C-42FF-96AA-A47CF59149A1}"/>
              </a:ext>
            </a:extLst>
          </p:cNvPr>
          <p:cNvSpPr>
            <a:spLocks noGrp="1"/>
          </p:cNvSpPr>
          <p:nvPr/>
        </p:nvSpPr>
        <p:spPr>
          <a:xfrm>
            <a:off x="3162300" y="3619500"/>
            <a:ext cx="8077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zeroTrace 的脚本能力较轻，重点是用户态函数入口和返回链；条件过滤和 call action 固定在本项目场景内，换取更短的热路径。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8D5EBE-8F5B-4A43-8D08-7B474F620BAE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6858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7731DC-8A6C-439E-9C57-0A1E5C01CEA0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perf / ftrace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1377E6-EA02-42FE-B142-49605BF28B8C}"/>
              </a:ext>
            </a:extLst>
          </p:cNvPr>
          <p:cNvSpPr>
            <a:spLocks noGrp="1"/>
          </p:cNvSpPr>
          <p:nvPr/>
        </p:nvSpPr>
        <p:spPr>
          <a:xfrm>
            <a:off x="3162300" y="4438650"/>
            <a:ext cx="8077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zeroTrace 输出兼容 perf/ftrace 风格字段，并提供合流脚本；它补充的是普通用户态函数参数和返回值。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96C7DF-EB8E-4C73-899E-B8DE0D7D3E62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820400" cy="6858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72F836A-E53B-447E-A721-D49685AD0CB4}"/>
              </a:ext>
            </a:extLst>
          </p:cNvPr>
          <p:cNvSpPr>
            <a:spLocks noGrp="1"/>
          </p:cNvSpPr>
          <p:nvPr/>
        </p:nvSpPr>
        <p:spPr>
          <a:xfrm>
            <a:off x="895350" y="529590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bpftime / 用户态 eBPF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662E57-4431-4478-AB30-2E08FAE19675}"/>
              </a:ext>
            </a:extLst>
          </p:cNvPr>
          <p:cNvSpPr>
            <a:spLocks noGrp="1"/>
          </p:cNvSpPr>
          <p:nvPr/>
        </p:nvSpPr>
        <p:spPr>
          <a:xfrm>
            <a:off x="3162300" y="5257800"/>
            <a:ext cx="8077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zeroTrace 采用 trampoline、stub 和 C payload 直接组织执行流；实现边界更窄，但便于针对赛题要求控制 ABI、返回值和线程组 patch。</a:t>
            </a:r>
          </a:p>
        </p:txBody>
      </p:sp>
    </p:spTree>
    <p:extLst>
      <p:ext uri="{BB962C8B-B14F-4D97-AF65-F5344CB8AC3E}">
        <p14:creationId xmlns:p14="http://schemas.microsoft.com/office/powerpoint/2010/main" val="55096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702D021-40E6-49FC-A34D-4DDC37A7C3A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系统架构：控制面与数据面分离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25A988-965F-4D00-B751-E5CC4318EB5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1315530"/>
            <a:ext cx="10439400" cy="279819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80134E85-8CC5-411C-881D-D05B80412513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3314700" cy="1162050"/>
          </a:xfrm>
          <a:prstGeom prst="roundRect">
            <a:avLst>
              <a:gd name="adj" fmla="val 6557"/>
            </a:avLst>
          </a:prstGeom>
          <a:noFill/>
          <a:ln w="1143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E1F356-896C-4B18-A592-6A9E79745153}"/>
              </a:ext>
            </a:extLst>
          </p:cNvPr>
          <p:cNvSpPr>
            <a:spLocks noGrp="1"/>
          </p:cNvSpPr>
          <p:nvPr/>
        </p:nvSpPr>
        <p:spPr>
          <a:xfrm>
            <a:off x="857250" y="4591050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控制面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D6B754-CF80-4A97-809B-A5257B0291F2}"/>
              </a:ext>
            </a:extLst>
          </p:cNvPr>
          <p:cNvSpPr>
            <a:spLocks noGrp="1"/>
          </p:cNvSpPr>
          <p:nvPr/>
        </p:nvSpPr>
        <p:spPr>
          <a:xfrm>
            <a:off x="857250" y="4895850"/>
            <a:ext cx="2971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控制面运行在 tracer 进程中，负责 CLI、会话管理、ptrace 控制、远程注入、trampoline 分配、入口 patch、日志读取与格式化。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A9528DA-BE0F-4F98-A7EE-ECAB72C44A46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314700" cy="1162050"/>
          </a:xfrm>
          <a:prstGeom prst="roundRect">
            <a:avLst>
              <a:gd name="adj" fmla="val 6557"/>
            </a:avLst>
          </a:prstGeom>
          <a:noFill/>
          <a:ln w="1143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B9961D-43F7-49D1-9F12-7061ADF45013}"/>
              </a:ext>
            </a:extLst>
          </p:cNvPr>
          <p:cNvSpPr>
            <a:spLocks noGrp="1"/>
          </p:cNvSpPr>
          <p:nvPr/>
        </p:nvSpPr>
        <p:spPr>
          <a:xfrm>
            <a:off x="4610100" y="4591050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数据面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C4C21B-D070-44B6-A61C-4EE0DBF62C2E}"/>
              </a:ext>
            </a:extLst>
          </p:cNvPr>
          <p:cNvSpPr>
            <a:spLocks noGrp="1"/>
          </p:cNvSpPr>
          <p:nvPr/>
        </p:nvSpPr>
        <p:spPr>
          <a:xfrm>
            <a:off x="4610100" y="4895850"/>
            <a:ext cx="2971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数据面位于目标进程内部，由函数入口 patch、trampoline、payload stub、payload handler 和 trace buffer 组成。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C14CC83-7AB7-4719-8D2F-C56625077019}"/>
              </a:ext>
            </a:extLst>
          </p:cNvPr>
          <p:cNvSpPr>
            <a:spLocks noGrp="1"/>
          </p:cNvSpPr>
          <p:nvPr/>
        </p:nvSpPr>
        <p:spPr>
          <a:xfrm>
            <a:off x="8191500" y="4457700"/>
            <a:ext cx="3314700" cy="1162050"/>
          </a:xfrm>
          <a:prstGeom prst="roundRect">
            <a:avLst>
              <a:gd name="adj" fmla="val 6557"/>
            </a:avLst>
          </a:prstGeom>
          <a:noFill/>
          <a:ln w="1143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ED6721-D799-433F-B1E9-52A046CB0032}"/>
              </a:ext>
            </a:extLst>
          </p:cNvPr>
          <p:cNvSpPr>
            <a:spLocks noGrp="1"/>
          </p:cNvSpPr>
          <p:nvPr/>
        </p:nvSpPr>
        <p:spPr>
          <a:xfrm>
            <a:off x="8362950" y="4591050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连接物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AA0F9E-14A9-4939-8808-67385C5114DF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971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二者通过远程配置区、trace buffer 和 probe 元数据连接。tracer 的轮询读取共享 buffer，不打断目标进程运行。</a:t>
            </a:r>
          </a:p>
        </p:txBody>
      </p:sp>
    </p:spTree>
    <p:extLst>
      <p:ext uri="{BB962C8B-B14F-4D97-AF65-F5344CB8AC3E}">
        <p14:creationId xmlns:p14="http://schemas.microsoft.com/office/powerpoint/2010/main" val="924156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33CAC1BC-5BB3-494A-8C10-181BE8FF852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系统架构：模块、状态与资源边界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35CDBD-6B2C-4E30-B384-90FAE69159D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379134-674A-4D66-BB06-32EF95A53DA6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主要模块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923F3-F8E2-4769-9A59-B4676CD2675F}"/>
              </a:ext>
            </a:extLst>
          </p:cNvPr>
          <p:cNvSpPr>
            <a:spLocks noGrp="1"/>
          </p:cNvSpPr>
          <p:nvPr/>
        </p:nvSpPr>
        <p:spPr>
          <a:xfrm>
            <a:off x="6667500" y="12858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运行态数据结构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FF95625-084B-4E74-ABE5-8E31AA04F92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334000" cy="685800"/>
          </a:xfrm>
          <a:prstGeom prst="roundRect">
            <a:avLst>
              <a:gd name="adj" fmla="val 1111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82B474-4AA8-48EC-9AE2-A73F85D58357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506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zt_cli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9B60F7-158D-4DA1-8495-184EDF9F479E}"/>
              </a:ext>
            </a:extLst>
          </p:cNvPr>
          <p:cNvSpPr>
            <a:spLocks noGrp="1"/>
          </p:cNvSpPr>
          <p:nvPr/>
        </p:nvSpPr>
        <p:spPr>
          <a:xfrm>
            <a:off x="819150" y="2057400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解析命令，维护 attach 会话，触发 trace / update / disable / untrace。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F3A3DCF-94C5-4CCE-B05F-5FB6C2C91121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5334000" cy="685800"/>
          </a:xfrm>
          <a:prstGeom prst="roundRect">
            <a:avLst>
              <a:gd name="adj" fmla="val 1111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EC06B3-9C66-4653-93A6-DA4B1B55A7C2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506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zt_trace_runner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DA20FD-BCF4-4777-9993-75668572FB70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串联 injector、payload、trampoline pool、filter、sigconf 和日志输出。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4B3C1BC-6365-4920-A043-2C3DD3A9FFCB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5334000" cy="685800"/>
          </a:xfrm>
          <a:prstGeom prst="roundRect">
            <a:avLst>
              <a:gd name="adj" fmla="val 1111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A1D3AE-D61C-44D7-9241-4EEE4D27D04A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506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zt_injector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F3CCA3-6A81-4656-9B3A-6F1CC316A2C8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管理 ptrace、线程组停止/恢复、远程内存读写、入口 patch 与恢复。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FD9A9A7-A77A-4FD5-AFBD-28329C3E00B7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5334000" cy="685800"/>
          </a:xfrm>
          <a:prstGeom prst="roundRect">
            <a:avLst>
              <a:gd name="adj" fmla="val 1111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3649AB-397C-4C0B-9ACC-012C2130F7F7}"/>
              </a:ext>
            </a:extLst>
          </p:cNvPr>
          <p:cNvSpPr>
            <a:spLocks noGrp="1"/>
          </p:cNvSpPr>
          <p:nvPr/>
        </p:nvSpPr>
        <p:spPr>
          <a:xfrm>
            <a:off x="819150" y="4324350"/>
            <a:ext cx="506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zt_payload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AF7972-1C4E-49E4-A473-4F7BD55F4917}"/>
              </a:ext>
            </a:extLst>
          </p:cNvPr>
          <p:cNvSpPr>
            <a:spLocks noGrp="1"/>
          </p:cNvSpPr>
          <p:nvPr/>
        </p:nvSpPr>
        <p:spPr>
          <a:xfrm>
            <a:off x="819150" y="4572000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注入目标后保存现场、维护 TLS shadow stack、写 entry / return / call event。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FC39502-9070-4B27-89AB-BEF631DE5022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838700" cy="685800"/>
          </a:xfrm>
          <a:prstGeom prst="roundRect">
            <a:avLst>
              <a:gd name="adj" fmla="val 11111"/>
            </a:avLst>
          </a:prstGeom>
          <a:noFill/>
          <a:ln w="1143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226EB7-8850-472C-BA8E-10721FC8565A}"/>
              </a:ext>
            </a:extLst>
          </p:cNvPr>
          <p:cNvSpPr>
            <a:spLocks noGrp="1"/>
          </p:cNvSpPr>
          <p:nvPr/>
        </p:nvSpPr>
        <p:spPr>
          <a:xfrm>
            <a:off x="6800850" y="18097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probe 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E6C4E4A-B47A-42D6-878A-965FCFE3C22A}"/>
              </a:ext>
            </a:extLst>
          </p:cNvPr>
          <p:cNvSpPr>
            <a:spLocks noGrp="1"/>
          </p:cNvSpPr>
          <p:nvPr/>
        </p:nvSpPr>
        <p:spPr>
          <a:xfrm>
            <a:off x="6800850" y="2057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probe_id、符号名、远程地址、trampoline、原始入口字节、状态和 filter。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7DB788E-37F4-4F19-81E3-619B024A344C}"/>
              </a:ext>
            </a:extLst>
          </p:cNvPr>
          <p:cNvSpPr>
            <a:spLocks noGrp="1"/>
          </p:cNvSpPr>
          <p:nvPr/>
        </p:nvSpPr>
        <p:spPr>
          <a:xfrm>
            <a:off x="6667500" y="2457450"/>
            <a:ext cx="4838700" cy="685800"/>
          </a:xfrm>
          <a:prstGeom prst="roundRect">
            <a:avLst>
              <a:gd name="adj" fmla="val 1111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6E1BF71-A430-482D-A01B-67C12AF9A1BF}"/>
              </a:ext>
            </a:extLst>
          </p:cNvPr>
          <p:cNvSpPr>
            <a:spLocks noGrp="1"/>
          </p:cNvSpPr>
          <p:nvPr/>
        </p:nvSpPr>
        <p:spPr>
          <a:xfrm>
            <a:off x="6800850" y="25527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trace buffer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282058-29D6-4C95-A979-41F579BC51EA}"/>
              </a:ext>
            </a:extLst>
          </p:cNvPr>
          <p:cNvSpPr>
            <a:spLocks noGrp="1"/>
          </p:cNvSpPr>
          <p:nvPr/>
        </p:nvSpPr>
        <p:spPr>
          <a:xfrm>
            <a:off x="6800850" y="28003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probe_id、event_type、call_id、timestamp_ns、tid/cpu、参数槽和 committed_seq。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7774DE5-0731-4165-A36B-84861E7B7ABA}"/>
              </a:ext>
            </a:extLst>
          </p:cNvPr>
          <p:cNvSpPr>
            <a:spLocks noGrp="1"/>
          </p:cNvSpPr>
          <p:nvPr/>
        </p:nvSpPr>
        <p:spPr>
          <a:xfrm>
            <a:off x="6667500" y="3200400"/>
            <a:ext cx="4838700" cy="685800"/>
          </a:xfrm>
          <a:prstGeom prst="roundRect">
            <a:avLst>
              <a:gd name="adj" fmla="val 11111"/>
            </a:avLst>
          </a:prstGeom>
          <a:noFill/>
          <a:ln w="1143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5C1FDFE-FC25-4A38-978B-941BB9393F22}"/>
              </a:ext>
            </a:extLst>
          </p:cNvPr>
          <p:cNvSpPr>
            <a:spLocks noGrp="1"/>
          </p:cNvSpPr>
          <p:nvPr/>
        </p:nvSpPr>
        <p:spPr>
          <a:xfrm>
            <a:off x="6800850" y="32956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call action 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B49FFE-D8F4-444E-828D-1985C799A80C}"/>
              </a:ext>
            </a:extLst>
          </p:cNvPr>
          <p:cNvSpPr>
            <a:spLocks noGrp="1"/>
          </p:cNvSpPr>
          <p:nvPr/>
        </p:nvSpPr>
        <p:spPr>
          <a:xfrm>
            <a:off x="6800850" y="35433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callee 地址、参数来源和 commit token，保证 payload 读到完整快照。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5CCE432-9A69-4D64-9B09-9259DF464C5B}"/>
              </a:ext>
            </a:extLst>
          </p:cNvPr>
          <p:cNvSpPr>
            <a:spLocks noGrp="1"/>
          </p:cNvSpPr>
          <p:nvPr/>
        </p:nvSpPr>
        <p:spPr>
          <a:xfrm>
            <a:off x="6667500" y="3943350"/>
            <a:ext cx="4838700" cy="685800"/>
          </a:xfrm>
          <a:prstGeom prst="roundRect">
            <a:avLst>
              <a:gd name="adj" fmla="val 1111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8BE5974-E62F-4DC7-8600-B4B41ED4B858}"/>
              </a:ext>
            </a:extLst>
          </p:cNvPr>
          <p:cNvSpPr>
            <a:spLocks noGrp="1"/>
          </p:cNvSpPr>
          <p:nvPr/>
        </p:nvSpPr>
        <p:spPr>
          <a:xfrm>
            <a:off x="6800850" y="40386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active trace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2C37335-1B91-4FD9-9275-631F13953D9E}"/>
              </a:ext>
            </a:extLst>
          </p:cNvPr>
          <p:cNvSpPr>
            <a:spLocks noGrp="1"/>
          </p:cNvSpPr>
          <p:nvPr/>
        </p:nvSpPr>
        <p:spPr>
          <a:xfrm>
            <a:off x="6800850" y="42862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session、远程 payload/config/buffer 地址、pool 元数据、日志 reader 状态。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ADB8228-B681-457E-A95E-B79318EE0D3E}"/>
              </a:ext>
            </a:extLst>
          </p:cNvPr>
          <p:cNvSpPr>
            <a:spLocks noGrp="1"/>
          </p:cNvSpPr>
          <p:nvPr/>
        </p:nvSpPr>
        <p:spPr>
          <a:xfrm>
            <a:off x="6667500" y="4686300"/>
            <a:ext cx="4838700" cy="685800"/>
          </a:xfrm>
          <a:prstGeom prst="roundRect">
            <a:avLst>
              <a:gd name="adj" fmla="val 11111"/>
            </a:avLst>
          </a:prstGeom>
          <a:noFill/>
          <a:ln w="1143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58084B6-E29C-46FD-85AF-16D1E89D112D}"/>
              </a:ext>
            </a:extLst>
          </p:cNvPr>
          <p:cNvSpPr>
            <a:spLocks noGrp="1"/>
          </p:cNvSpPr>
          <p:nvPr/>
        </p:nvSpPr>
        <p:spPr>
          <a:xfrm>
            <a:off x="6800850" y="47815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entry cache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5A16CB-A778-4D3E-99B2-AF1BA592D713}"/>
              </a:ext>
            </a:extLst>
          </p:cNvPr>
          <p:cNvSpPr>
            <a:spLocks noGrp="1"/>
          </p:cNvSpPr>
          <p:nvPr/>
        </p:nvSpPr>
        <p:spPr>
          <a:xfrm>
            <a:off x="6800850" y="50292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按 call_id 缓存 entry 信息，用于 return 配对和过滤同步。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655EF07-FE1C-42DF-996A-36CCA5EBA1E2}"/>
              </a:ext>
            </a:extLst>
          </p:cNvPr>
          <p:cNvSpPr>
            <a:spLocks noGrp="1"/>
          </p:cNvSpPr>
          <p:nvPr/>
        </p:nvSpPr>
        <p:spPr>
          <a:xfrm>
            <a:off x="6667500" y="5524500"/>
            <a:ext cx="4838700" cy="838200"/>
          </a:xfrm>
          <a:prstGeom prst="roundRect">
            <a:avLst>
              <a:gd name="adj" fmla="val 909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F21576-AFE3-44F2-BB9D-7BA2D8E49719}"/>
              </a:ext>
            </a:extLst>
          </p:cNvPr>
          <p:cNvSpPr>
            <a:spLocks noGrp="1"/>
          </p:cNvSpPr>
          <p:nvPr/>
        </p:nvSpPr>
        <p:spPr>
          <a:xfrm>
            <a:off x="6800850" y="56197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边界原则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C6719F-A1E9-4777-9884-DC73BE82F894}"/>
              </a:ext>
            </a:extLst>
          </p:cNvPr>
          <p:cNvSpPr>
            <a:spLocks noGrp="1"/>
          </p:cNvSpPr>
          <p:nvPr/>
        </p:nvSpPr>
        <p:spPr>
          <a:xfrm>
            <a:off x="6800850" y="5867400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20" b="0">
                <a:solidFill>
                  <a:srgbClr val="111111"/>
                </a:solidFill>
                <a:latin typeface="Noto Sans CJK SC"/>
              </a:rPr>
              <a:t>运行态主要由 probe 表、trace buffer 和 active trace 状态组成。probe 表记录“正在追踪哪些函数”，trace buffer 承接函数命中后的事件，active trace 状态保存 tracer 与目标进程之间共享的远程资源。</a:t>
            </a:r>
          </a:p>
        </p:txBody>
      </p:sp>
    </p:spTree>
    <p:extLst>
      <p:ext uri="{BB962C8B-B14F-4D97-AF65-F5344CB8AC3E}">
        <p14:creationId xmlns:p14="http://schemas.microsoft.com/office/powerpoint/2010/main" val="966804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72FED64-258E-41D2-959F-156C222DD71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系统架构：probe 安装与运行流程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14DAD4-12A9-41D6-ABF3-9AA59AAB287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6EEDBD1-2671-43AF-B051-6E5950C66B89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1181100" cy="552450"/>
          </a:xfrm>
          <a:prstGeom prst="roundRect">
            <a:avLst>
              <a:gd name="adj" fmla="val 13793"/>
            </a:avLst>
          </a:prstGeom>
          <a:solidFill>
            <a:srgbClr val="F0F4F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attach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目标进程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B666140-BC6F-4B2F-A8E6-02F180CD3141}"/>
              </a:ext>
            </a:extLst>
          </p:cNvPr>
          <p:cNvSpPr>
            <a:spLocks noGrp="1"/>
          </p:cNvSpPr>
          <p:nvPr/>
        </p:nvSpPr>
        <p:spPr>
          <a:xfrm>
            <a:off x="2228850" y="1562100"/>
            <a:ext cx="1295400" cy="552450"/>
          </a:xfrm>
          <a:prstGeom prst="roundRect">
            <a:avLst>
              <a:gd name="adj" fmla="val 13793"/>
            </a:avLst>
          </a:prstGeom>
          <a:solidFill>
            <a:srgbClr val="F0F4F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停止并收敛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线程组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98662FA-8ECE-4ADC-8B60-82C293C8AE08}"/>
              </a:ext>
            </a:extLst>
          </p:cNvPr>
          <p:cNvSpPr>
            <a:spLocks noGrp="1"/>
          </p:cNvSpPr>
          <p:nvPr/>
        </p:nvSpPr>
        <p:spPr>
          <a:xfrm>
            <a:off x="3848100" y="1466850"/>
            <a:ext cx="1200150" cy="742950"/>
          </a:xfrm>
          <a:prstGeom prst="roundRect">
            <a:avLst>
              <a:gd name="adj" fmla="val 10256"/>
            </a:avLst>
          </a:prstGeom>
          <a:solidFill>
            <a:srgbClr val="FBF1E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runtime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已初始化?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E20907B-8AEC-4D7B-8428-EC1A57304BA0}"/>
              </a:ext>
            </a:extLst>
          </p:cNvPr>
          <p:cNvSpPr>
            <a:spLocks noGrp="1"/>
          </p:cNvSpPr>
          <p:nvPr/>
        </p:nvSpPr>
        <p:spPr>
          <a:xfrm>
            <a:off x="5410200" y="1200150"/>
            <a:ext cx="1676400" cy="628650"/>
          </a:xfrm>
          <a:prstGeom prst="roundRect">
            <a:avLst>
              <a:gd name="adj" fmla="val 12121"/>
            </a:avLst>
          </a:prstGeom>
          <a:solidFill>
            <a:srgbClr val="F0F4F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远程 dlopen payload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分配 buffer/config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3BB3774-2E6D-4B89-9763-C8BDF755253B}"/>
              </a:ext>
            </a:extLst>
          </p:cNvPr>
          <p:cNvSpPr>
            <a:spLocks noGrp="1"/>
          </p:cNvSpPr>
          <p:nvPr/>
        </p:nvSpPr>
        <p:spPr>
          <a:xfrm>
            <a:off x="5410200" y="2152650"/>
            <a:ext cx="1676400" cy="552450"/>
          </a:xfrm>
          <a:prstGeom prst="roundRect">
            <a:avLst>
              <a:gd name="adj" fmla="val 13793"/>
            </a:avLst>
          </a:prstGeom>
          <a:solidFill>
            <a:srgbClr val="F0F4F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复用已有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runtime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5729F7B-58A8-4960-81FD-9989CED61E5E}"/>
              </a:ext>
            </a:extLst>
          </p:cNvPr>
          <p:cNvSpPr>
            <a:spLocks noGrp="1"/>
          </p:cNvSpPr>
          <p:nvPr/>
        </p:nvSpPr>
        <p:spPr>
          <a:xfrm>
            <a:off x="7524750" y="1562100"/>
            <a:ext cx="1695450" cy="628650"/>
          </a:xfrm>
          <a:prstGeom prst="roundRect">
            <a:avLst>
              <a:gd name="adj" fmla="val 12121"/>
            </a:avLst>
          </a:prstGeom>
          <a:solidFill>
            <a:srgbClr val="F0F4F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解析符号地址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读取原始前导指令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D4B75F4-EF8A-4100-BA7D-C4ABD32264E8}"/>
              </a:ext>
            </a:extLst>
          </p:cNvPr>
          <p:cNvSpPr>
            <a:spLocks noGrp="1"/>
          </p:cNvSpPr>
          <p:nvPr/>
        </p:nvSpPr>
        <p:spPr>
          <a:xfrm>
            <a:off x="9658350" y="1562100"/>
            <a:ext cx="1695450" cy="628650"/>
          </a:xfrm>
          <a:prstGeom prst="roundRect">
            <a:avLst>
              <a:gd name="adj" fmla="val 12121"/>
            </a:avLst>
          </a:prstGeom>
          <a:solidFill>
            <a:srgbClr val="F0F4F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分配 trampoline slot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重定位原始指令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F6BD06A-5A69-4F80-B9A3-6C7BB48EA6F0}"/>
              </a:ext>
            </a:extLst>
          </p:cNvPr>
          <p:cNvSpPr>
            <a:spLocks noGrp="1"/>
          </p:cNvSpPr>
          <p:nvPr/>
        </p:nvSpPr>
        <p:spPr>
          <a:xfrm>
            <a:off x="2324100" y="3105150"/>
            <a:ext cx="1638300" cy="590550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入口 patch 到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trampoline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8BB9150-32CA-4324-AC7F-0943F0B5040E}"/>
              </a:ext>
            </a:extLst>
          </p:cNvPr>
          <p:cNvSpPr>
            <a:spLocks noGrp="1"/>
          </p:cNvSpPr>
          <p:nvPr/>
        </p:nvSpPr>
        <p:spPr>
          <a:xfrm>
            <a:off x="4362450" y="3105150"/>
            <a:ext cx="1371600" cy="590550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恢复目标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线程组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04E1AF-44BE-4157-BAA2-8183876656C2}"/>
              </a:ext>
            </a:extLst>
          </p:cNvPr>
          <p:cNvSpPr>
            <a:spLocks noGrp="1"/>
          </p:cNvSpPr>
          <p:nvPr/>
        </p:nvSpPr>
        <p:spPr>
          <a:xfrm>
            <a:off x="6134100" y="3105150"/>
            <a:ext cx="1562100" cy="590550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异步读取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trace buffer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290EA5B-56C3-4333-8038-09DA63BD8170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 w="11430">
            <a:solidFill>
              <a:srgbClr val="CBD3DB"/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删除最后一个 probe</a:t>
            </a:r>
          </a:p>
          <a:p>
            <a:pPr algn="ctr">
              <a:def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恢复入口 / 释放 slot / munmap</a:t>
            </a:r>
          </a:p>
        </p:txBody>
      </p:sp>
      <p:cxnSp>
        <p:nvCxnSpPr>
          <p:cNvPr id="49" name="直接箭头连接符 48"/>
          <p:cNvCxnSpPr>
            <a:stCxn id="3" idx="3"/>
            <a:endCxn id="4" idx="1"/>
          </p:cNvCxnSpPr>
          <p:nvPr/>
        </p:nvCxnSpPr>
        <p:spPr>
          <a:xfrm>
            <a:off x="1905000" y="1838325"/>
            <a:ext cx="323850" cy="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50" name="直接箭头连接符 49"/>
          <p:cNvCxnSpPr>
            <a:stCxn id="4" idx="3"/>
            <a:endCxn id="5" idx="1"/>
          </p:cNvCxnSpPr>
          <p:nvPr/>
        </p:nvCxnSpPr>
        <p:spPr>
          <a:xfrm>
            <a:off x="3524250" y="1838325"/>
            <a:ext cx="323850" cy="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51" name="直接箭头连接符 50"/>
          <p:cNvCxnSpPr>
            <a:stCxn id="5" idx="3"/>
            <a:endCxn id="6" idx="1"/>
          </p:cNvCxnSpPr>
          <p:nvPr/>
        </p:nvCxnSpPr>
        <p:spPr>
          <a:xfrm flipV="1">
            <a:off x="5048250" y="1514475"/>
            <a:ext cx="361950" cy="32385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52" name="直接箭头连接符 51"/>
          <p:cNvCxnSpPr>
            <a:stCxn id="5" idx="3"/>
            <a:endCxn id="7" idx="1"/>
          </p:cNvCxnSpPr>
          <p:nvPr/>
        </p:nvCxnSpPr>
        <p:spPr>
          <a:xfrm>
            <a:off x="5048250" y="1838325"/>
            <a:ext cx="361950" cy="59055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53" name="直接箭头连接符 52"/>
          <p:cNvCxnSpPr>
            <a:stCxn id="6" idx="3"/>
            <a:endCxn id="8" idx="1"/>
          </p:cNvCxnSpPr>
          <p:nvPr/>
        </p:nvCxnSpPr>
        <p:spPr>
          <a:xfrm>
            <a:off x="7086600" y="1514475"/>
            <a:ext cx="438150" cy="36195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54" name="直接箭头连接符 53"/>
          <p:cNvCxnSpPr>
            <a:stCxn id="7" idx="3"/>
            <a:endCxn id="8" idx="1"/>
          </p:cNvCxnSpPr>
          <p:nvPr/>
        </p:nvCxnSpPr>
        <p:spPr>
          <a:xfrm flipV="1">
            <a:off x="7086600" y="1876425"/>
            <a:ext cx="438150" cy="55245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55" name="直接箭头连接符 54"/>
          <p:cNvCxnSpPr>
            <a:stCxn id="8" idx="3"/>
            <a:endCxn id="9" idx="1"/>
          </p:cNvCxnSpPr>
          <p:nvPr/>
        </p:nvCxnSpPr>
        <p:spPr>
          <a:xfrm>
            <a:off x="9220200" y="1876425"/>
            <a:ext cx="438150" cy="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56" name="连接符: 肘形 55"/>
          <p:cNvCxnSpPr>
            <a:stCxn id="9" idx="2"/>
            <a:endCxn id="10" idx="0"/>
          </p:cNvCxnSpPr>
          <p:nvPr/>
        </p:nvCxnSpPr>
        <p:spPr>
          <a:xfrm flipH="1">
            <a:off x="3143250" y="2190750"/>
            <a:ext cx="7362825" cy="914400"/>
          </a:xfrm>
          <a:prstGeom prst="bentConnector4">
            <a:avLst>
              <a:gd name="adj1" fmla="val 0"/>
              <a:gd name="adj2" fmla="val 75000"/>
            </a:avLst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57" name="直接箭头连接符 56"/>
          <p:cNvCxnSpPr>
            <a:stCxn id="10" idx="3"/>
            <a:endCxn id="11" idx="1"/>
          </p:cNvCxnSpPr>
          <p:nvPr/>
        </p:nvCxnSpPr>
        <p:spPr>
          <a:xfrm>
            <a:off x="3962400" y="3400425"/>
            <a:ext cx="400050" cy="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58" name="直接箭头连接符 57"/>
          <p:cNvCxnSpPr>
            <a:stCxn id="11" idx="3"/>
            <a:endCxn id="12" idx="1"/>
          </p:cNvCxnSpPr>
          <p:nvPr/>
        </p:nvCxnSpPr>
        <p:spPr>
          <a:xfrm>
            <a:off x="5734050" y="3400425"/>
            <a:ext cx="400050" cy="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59" name="直接箭头连接符 58"/>
          <p:cNvCxnSpPr>
            <a:stCxn id="12" idx="3"/>
            <a:endCxn id="13" idx="1"/>
          </p:cNvCxnSpPr>
          <p:nvPr/>
        </p:nvCxnSpPr>
        <p:spPr>
          <a:xfrm>
            <a:off x="7696200" y="3400425"/>
            <a:ext cx="438150" cy="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arrow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F0155904-5E06-4FCB-89F6-96CCA3A37930}"/>
              </a:ext>
            </a:extLst>
          </p:cNvPr>
          <p:cNvSpPr>
            <a:spLocks noGrp="1"/>
          </p:cNvSpPr>
          <p:nvPr/>
        </p:nvSpPr>
        <p:spPr>
          <a:xfrm>
            <a:off x="5095875" y="12382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否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DB024F-A68E-43F5-BD5B-8009C33E90C1}"/>
              </a:ext>
            </a:extLst>
          </p:cNvPr>
          <p:cNvSpPr>
            <a:spLocks noGrp="1"/>
          </p:cNvSpPr>
          <p:nvPr/>
        </p:nvSpPr>
        <p:spPr>
          <a:xfrm>
            <a:off x="5095875" y="22669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是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6C33827-D559-4B35-845A-FA46D3C408CE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3276600" cy="1066800"/>
          </a:xfrm>
          <a:prstGeom prst="roundRect">
            <a:avLst>
              <a:gd name="adj" fmla="val 714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F6DF1C-8C17-4D59-A819-34B63B044747}"/>
              </a:ext>
            </a:extLst>
          </p:cNvPr>
          <p:cNvSpPr>
            <a:spLocks noGrp="1"/>
          </p:cNvSpPr>
          <p:nvPr/>
        </p:nvSpPr>
        <p:spPr>
          <a:xfrm>
            <a:off x="895350" y="43434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生命周期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F6D3D5-7865-4258-A2B7-22A9864BF73C}"/>
              </a:ext>
            </a:extLst>
          </p:cNvPr>
          <p:cNvSpPr>
            <a:spLocks noGrp="1"/>
          </p:cNvSpPr>
          <p:nvPr/>
        </p:nvSpPr>
        <p:spPr>
          <a:xfrm>
            <a:off x="895350" y="4648200"/>
            <a:ext cx="2933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一次 probe 从安装到清理分三步：准备运行时、安装入口跳转、消费事件。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DF5D6ED-126A-42F1-A682-14F724013542}"/>
              </a:ext>
            </a:extLst>
          </p:cNvPr>
          <p:cNvSpPr>
            <a:spLocks noGrp="1"/>
          </p:cNvSpPr>
          <p:nvPr/>
        </p:nvSpPr>
        <p:spPr>
          <a:xfrm>
            <a:off x="4457700" y="4210050"/>
            <a:ext cx="3276600" cy="1066800"/>
          </a:xfrm>
          <a:prstGeom prst="roundRect">
            <a:avLst>
              <a:gd name="adj" fmla="val 714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359AED7-1F6D-4F5E-9794-BA63297BE8A9}"/>
              </a:ext>
            </a:extLst>
          </p:cNvPr>
          <p:cNvSpPr>
            <a:spLocks noGrp="1"/>
          </p:cNvSpPr>
          <p:nvPr/>
        </p:nvSpPr>
        <p:spPr>
          <a:xfrm>
            <a:off x="4629150" y="43434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runtime 复用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2CF6EFE-2A87-4934-9D96-1F81990DBC64}"/>
              </a:ext>
            </a:extLst>
          </p:cNvPr>
          <p:cNvSpPr>
            <a:spLocks noGrp="1"/>
          </p:cNvSpPr>
          <p:nvPr/>
        </p:nvSpPr>
        <p:spPr>
          <a:xfrm>
            <a:off x="4629150" y="4648200"/>
            <a:ext cx="2933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第一条 probe 会额外完成 payload 注入和共享内存初始化；后续 probe 复用同一份 runtime，再分配新的 trampoline slot。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159799C-653B-4746-8E17-F93813BB0238}"/>
              </a:ext>
            </a:extLst>
          </p:cNvPr>
          <p:cNvSpPr>
            <a:spLocks noGrp="1"/>
          </p:cNvSpPr>
          <p:nvPr/>
        </p:nvSpPr>
        <p:spPr>
          <a:xfrm>
            <a:off x="8191500" y="4210050"/>
            <a:ext cx="3276600" cy="1066800"/>
          </a:xfrm>
          <a:prstGeom prst="roundRect">
            <a:avLst>
              <a:gd name="adj" fmla="val 714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B507CA2-55BF-4C76-BA74-22B7225A336D}"/>
              </a:ext>
            </a:extLst>
          </p:cNvPr>
          <p:cNvSpPr>
            <a:spLocks noGrp="1"/>
          </p:cNvSpPr>
          <p:nvPr/>
        </p:nvSpPr>
        <p:spPr>
          <a:xfrm>
            <a:off x="8362950" y="43434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清理顺序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A799E8B-CAB5-4D15-BB74-AB3A58141E2A}"/>
              </a:ext>
            </a:extLst>
          </p:cNvPr>
          <p:cNvSpPr>
            <a:spLocks noGrp="1"/>
          </p:cNvSpPr>
          <p:nvPr/>
        </p:nvSpPr>
        <p:spPr>
          <a:xfrm>
            <a:off x="8362950" y="4648200"/>
            <a:ext cx="2933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删除最后一个 probe 时，清理顺序是先恢复函数入口，再释放 trampoline slot；如果 pool 已经空闲，再远程 munmap。</a:t>
            </a:r>
          </a:p>
        </p:txBody>
      </p:sp>
    </p:spTree>
    <p:extLst>
      <p:ext uri="{BB962C8B-B14F-4D97-AF65-F5344CB8AC3E}">
        <p14:creationId xmlns:p14="http://schemas.microsoft.com/office/powerpoint/2010/main" val="1500008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E3A66F-CB88-433B-BFBB-EF5571BDD667}"/>
              </a:ext>
            </a:extLst>
          </p:cNvPr>
          <p:cNvSpPr>
            <a:spLocks noGrp="1"/>
          </p:cNvSpPr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29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实现路径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EA2A02-47E0-4940-A512-0F1B3B4B3BC7}"/>
              </a:ext>
            </a:extLst>
          </p:cNvPr>
          <p:cNvSpPr>
            <a:spLocks noGrp="1"/>
          </p:cNvSpPr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3335">
            <a:solidFill>
              <a:srgbClr val="D8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199AEF-7456-4671-8831-42EC4A73E3B4}"/>
              </a:ext>
            </a:extLst>
          </p:cNvPr>
          <p:cNvSpPr>
            <a:spLocks noGrp="1"/>
          </p:cNvSpPr>
          <p:nvPr/>
        </p:nvSpPr>
        <p:spPr>
          <a:xfrm>
            <a:off x="713232" y="2157984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D233DE-9C27-4940-AC01-A6F271B83221}"/>
              </a:ext>
            </a:extLst>
          </p:cNvPr>
          <p:cNvSpPr>
            <a:spLocks noGrp="1"/>
          </p:cNvSpPr>
          <p:nvPr/>
        </p:nvSpPr>
        <p:spPr>
          <a:xfrm>
            <a:off x="786384" y="2377440"/>
            <a:ext cx="1481328" cy="21945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目标函数入口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A6C781B-3CFD-4A7D-A1FF-DEEC7575398B}"/>
              </a:ext>
            </a:extLst>
          </p:cNvPr>
          <p:cNvSpPr>
            <a:spLocks noGrp="1"/>
          </p:cNvSpPr>
          <p:nvPr/>
        </p:nvSpPr>
        <p:spPr>
          <a:xfrm>
            <a:off x="2340864" y="249631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6B84F30-A129-47ED-9359-CB0E05621626}"/>
              </a:ext>
            </a:extLst>
          </p:cNvPr>
          <p:cNvSpPr>
            <a:spLocks noGrp="1"/>
          </p:cNvSpPr>
          <p:nvPr/>
        </p:nvSpPr>
        <p:spPr>
          <a:xfrm>
            <a:off x="2743200" y="2157984"/>
            <a:ext cx="1627632" cy="676656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6A52BD-284C-4933-A20F-51AE44CFB9D0}"/>
              </a:ext>
            </a:extLst>
          </p:cNvPr>
          <p:cNvSpPr>
            <a:spLocks noGrp="1"/>
          </p:cNvSpPr>
          <p:nvPr/>
        </p:nvSpPr>
        <p:spPr>
          <a:xfrm>
            <a:off x="2816352" y="2377440"/>
            <a:ext cx="1481328" cy="21945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trampoline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60E22D1-054E-4976-8FC0-EACBF1EEB9B6}"/>
              </a:ext>
            </a:extLst>
          </p:cNvPr>
          <p:cNvSpPr>
            <a:spLocks noGrp="1"/>
          </p:cNvSpPr>
          <p:nvPr/>
        </p:nvSpPr>
        <p:spPr>
          <a:xfrm>
            <a:off x="4370832" y="249631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1428D3-140F-429A-892B-2C83C37212D7}"/>
              </a:ext>
            </a:extLst>
          </p:cNvPr>
          <p:cNvSpPr>
            <a:spLocks noGrp="1"/>
          </p:cNvSpPr>
          <p:nvPr/>
        </p:nvSpPr>
        <p:spPr>
          <a:xfrm>
            <a:off x="4754880" y="2157984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2584357-8DCE-4C50-8B40-D83380A8871B}"/>
              </a:ext>
            </a:extLst>
          </p:cNvPr>
          <p:cNvSpPr>
            <a:spLocks noGrp="1"/>
          </p:cNvSpPr>
          <p:nvPr/>
        </p:nvSpPr>
        <p:spPr>
          <a:xfrm>
            <a:off x="4828032" y="2377440"/>
            <a:ext cx="1481328" cy="21945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payload stub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6ED97E3-27BA-42E8-B62B-7559280CF798}"/>
              </a:ext>
            </a:extLst>
          </p:cNvPr>
          <p:cNvSpPr>
            <a:spLocks noGrp="1"/>
          </p:cNvSpPr>
          <p:nvPr/>
        </p:nvSpPr>
        <p:spPr>
          <a:xfrm>
            <a:off x="6382512" y="249631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F91AC8D-A5FE-4133-AC51-0E7A2733AF0E}"/>
              </a:ext>
            </a:extLst>
          </p:cNvPr>
          <p:cNvSpPr>
            <a:spLocks noGrp="1"/>
          </p:cNvSpPr>
          <p:nvPr/>
        </p:nvSpPr>
        <p:spPr>
          <a:xfrm>
            <a:off x="6858000" y="2157984"/>
            <a:ext cx="1627632" cy="676656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534D8C2-743E-4FF9-B926-8814FCEEA55B}"/>
              </a:ext>
            </a:extLst>
          </p:cNvPr>
          <p:cNvSpPr>
            <a:spLocks noGrp="1"/>
          </p:cNvSpPr>
          <p:nvPr/>
        </p:nvSpPr>
        <p:spPr>
          <a:xfrm>
            <a:off x="6931152" y="2377440"/>
            <a:ext cx="1481328" cy="21945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trace buffer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9E6C712-1736-47DF-8AA0-A68CCE120521}"/>
              </a:ext>
            </a:extLst>
          </p:cNvPr>
          <p:cNvSpPr>
            <a:spLocks noGrp="1"/>
          </p:cNvSpPr>
          <p:nvPr/>
        </p:nvSpPr>
        <p:spPr>
          <a:xfrm>
            <a:off x="8485632" y="249631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C8B095D-15F8-489B-949D-C12C7A02C612}"/>
              </a:ext>
            </a:extLst>
          </p:cNvPr>
          <p:cNvSpPr>
            <a:spLocks noGrp="1"/>
          </p:cNvSpPr>
          <p:nvPr/>
        </p:nvSpPr>
        <p:spPr>
          <a:xfrm>
            <a:off x="8961120" y="2157984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E08F31D-FCA5-4102-A6D6-D9BE78D5C9D9}"/>
              </a:ext>
            </a:extLst>
          </p:cNvPr>
          <p:cNvSpPr>
            <a:spLocks noGrp="1"/>
          </p:cNvSpPr>
          <p:nvPr/>
        </p:nvSpPr>
        <p:spPr>
          <a:xfrm>
            <a:off x="9034272" y="2377440"/>
            <a:ext cx="1481328" cy="21945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tracer 输出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019D938-A710-4DC2-B094-3E8CCCA1841A}"/>
              </a:ext>
            </a:extLst>
          </p:cNvPr>
          <p:cNvSpPr>
            <a:spLocks noGrp="1"/>
          </p:cNvSpPr>
          <p:nvPr/>
        </p:nvSpPr>
        <p:spPr>
          <a:xfrm>
            <a:off x="896112" y="37947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DFE5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BCB52F7-C0B6-4090-B057-10401F033991}"/>
              </a:ext>
            </a:extLst>
          </p:cNvPr>
          <p:cNvSpPr>
            <a:spLocks noGrp="1"/>
          </p:cNvSpPr>
          <p:nvPr/>
        </p:nvSpPr>
        <p:spPr>
          <a:xfrm>
            <a:off x="1097280" y="3959352"/>
            <a:ext cx="2843784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控制面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0233206-0C90-44F3-BCF7-89F632D0AA6A}"/>
              </a:ext>
            </a:extLst>
          </p:cNvPr>
          <p:cNvSpPr>
            <a:spLocks noGrp="1"/>
          </p:cNvSpPr>
          <p:nvPr/>
        </p:nvSpPr>
        <p:spPr>
          <a:xfrm>
            <a:off x="1097280" y="4434840"/>
            <a:ext cx="2843784" cy="384048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38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attach、payload 注入、入口 patch、生命周期管理、日志消费。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36A43BC-0FF1-4E43-86D5-CC57B8AEEA00}"/>
              </a:ext>
            </a:extLst>
          </p:cNvPr>
          <p:cNvSpPr>
            <a:spLocks noGrp="1"/>
          </p:cNvSpPr>
          <p:nvPr/>
        </p:nvSpPr>
        <p:spPr>
          <a:xfrm>
            <a:off x="4462272" y="37947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DFE5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9BA3DCB-EBD9-4B9C-ADE3-A6CCED1635FB}"/>
              </a:ext>
            </a:extLst>
          </p:cNvPr>
          <p:cNvSpPr>
            <a:spLocks noGrp="1"/>
          </p:cNvSpPr>
          <p:nvPr/>
        </p:nvSpPr>
        <p:spPr>
          <a:xfrm>
            <a:off x="4663440" y="3959352"/>
            <a:ext cx="2843784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数据面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110B33B-60CD-4994-B54F-0CCFA220697C}"/>
              </a:ext>
            </a:extLst>
          </p:cNvPr>
          <p:cNvSpPr>
            <a:spLocks noGrp="1"/>
          </p:cNvSpPr>
          <p:nvPr/>
        </p:nvSpPr>
        <p:spPr>
          <a:xfrm>
            <a:off x="4663440" y="4434840"/>
            <a:ext cx="2843784" cy="384048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38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用户态跳转、现场保存、ring buffer 写入。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FBFE46E-110C-4652-8E10-7EE20D3043A4}"/>
              </a:ext>
            </a:extLst>
          </p:cNvPr>
          <p:cNvSpPr>
            <a:spLocks noGrp="1"/>
          </p:cNvSpPr>
          <p:nvPr/>
        </p:nvSpPr>
        <p:spPr>
          <a:xfrm>
            <a:off x="8028432" y="379476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DFE5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1271292-51EE-4608-823E-DB68F57ED980}"/>
              </a:ext>
            </a:extLst>
          </p:cNvPr>
          <p:cNvSpPr>
            <a:spLocks noGrp="1"/>
          </p:cNvSpPr>
          <p:nvPr/>
        </p:nvSpPr>
        <p:spPr>
          <a:xfrm>
            <a:off x="8229600" y="3959352"/>
            <a:ext cx="2843784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7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返回路径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D50F0C3-913E-4BF7-B3DD-D665CDEE4ABE}"/>
              </a:ext>
            </a:extLst>
          </p:cNvPr>
          <p:cNvSpPr>
            <a:spLocks noGrp="1"/>
          </p:cNvSpPr>
          <p:nvPr/>
        </p:nvSpPr>
        <p:spPr>
          <a:xfrm>
            <a:off x="8229600" y="4434840"/>
            <a:ext cx="2843784" cy="384048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38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替换返回地址进入 exit stub，记录返回值后跳回原地址。</a:t>
            </a:r>
          </a:p>
        </p:txBody>
      </p:sp>
    </p:spTree>
    <p:extLst>
      <p:ext uri="{BB962C8B-B14F-4D97-AF65-F5344CB8AC3E}">
        <p14:creationId xmlns:p14="http://schemas.microsoft.com/office/powerpoint/2010/main" val="1340492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B58DE9C-191A-4843-A937-B0E22660A96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关键实现：入口 patch、trampoline 与返回链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19B966-CED9-43C6-A685-DA490E66813A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454568"/>
            <a:ext cx="5524500" cy="2253414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DB5EAD27-885A-481F-9CF7-056AA5CF2BF9}"/>
              </a:ext>
            </a:extLst>
          </p:cNvPr>
          <p:cNvSpPr>
            <a:spLocks noGrp="1"/>
          </p:cNvSpPr>
          <p:nvPr/>
        </p:nvSpPr>
        <p:spPr>
          <a:xfrm>
            <a:off x="6572250" y="1333500"/>
            <a:ext cx="2381250" cy="1123950"/>
          </a:xfrm>
          <a:prstGeom prst="roundRect">
            <a:avLst>
              <a:gd name="adj" fmla="val 6780"/>
            </a:avLst>
          </a:prstGeom>
          <a:noFill/>
          <a:ln w="1143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5117E4-F056-4AAC-8F2D-0CF3F7CB81BE}"/>
              </a:ext>
            </a:extLst>
          </p:cNvPr>
          <p:cNvSpPr>
            <a:spLocks noGrp="1"/>
          </p:cNvSpPr>
          <p:nvPr/>
        </p:nvSpPr>
        <p:spPr>
          <a:xfrm>
            <a:off x="6743700" y="1466850"/>
            <a:ext cx="2038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入口 patch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A02FF7-D224-4525-BF25-C09AFD36A058}"/>
              </a:ext>
            </a:extLst>
          </p:cNvPr>
          <p:cNvSpPr>
            <a:spLocks noGrp="1"/>
          </p:cNvSpPr>
          <p:nvPr/>
        </p:nvSpPr>
        <p:spPr>
          <a:xfrm>
            <a:off x="6743700" y="1771650"/>
            <a:ext cx="203835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88" b="0">
                <a:solidFill>
                  <a:srgbClr val="111111"/>
                </a:solidFill>
                <a:latin typeface="Noto Sans CJK SC"/>
              </a:rPr>
              <a:t>x86_64 使用 14 字节 RIP 相对间接跳转模板；aarch64 使用 16 字节 ldr/br 模板。两种模板都会把执行流送入远程 trampoline。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B7432C6-5F37-421D-A461-4194644B7246}"/>
              </a:ext>
            </a:extLst>
          </p:cNvPr>
          <p:cNvSpPr>
            <a:spLocks noGrp="1"/>
          </p:cNvSpPr>
          <p:nvPr/>
        </p:nvSpPr>
        <p:spPr>
          <a:xfrm>
            <a:off x="9105900" y="1333500"/>
            <a:ext cx="2381250" cy="1123950"/>
          </a:xfrm>
          <a:prstGeom prst="roundRect">
            <a:avLst>
              <a:gd name="adj" fmla="val 6780"/>
            </a:avLst>
          </a:prstGeom>
          <a:noFill/>
          <a:ln w="1143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77B952-BC84-4CF9-9EAD-3B0D5C5293ED}"/>
              </a:ext>
            </a:extLst>
          </p:cNvPr>
          <p:cNvSpPr>
            <a:spLocks noGrp="1"/>
          </p:cNvSpPr>
          <p:nvPr/>
        </p:nvSpPr>
        <p:spPr>
          <a:xfrm>
            <a:off x="9277350" y="1466850"/>
            <a:ext cx="2038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前导指令重定位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A39DA3-177D-467F-B9DF-923D33033731}"/>
              </a:ext>
            </a:extLst>
          </p:cNvPr>
          <p:cNvSpPr>
            <a:spLocks noGrp="1"/>
          </p:cNvSpPr>
          <p:nvPr/>
        </p:nvSpPr>
        <p:spPr>
          <a:xfrm>
            <a:off x="9277350" y="17716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88" b="0">
                <a:solidFill>
                  <a:srgbClr val="111111"/>
                </a:solidFill>
                <a:latin typeface="Noto Sans CJK SC"/>
              </a:rPr>
              <a:t>被覆盖的原始指令会复制到 trampoline 中执行，之后再跳回 func + orig_len。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FFD7FD-9064-4FFC-B395-4FBA49BA8B77}"/>
              </a:ext>
            </a:extLst>
          </p:cNvPr>
          <p:cNvSpPr>
            <a:spLocks noGrp="1"/>
          </p:cNvSpPr>
          <p:nvPr/>
        </p:nvSpPr>
        <p:spPr>
          <a:xfrm>
            <a:off x="6572250" y="2781300"/>
            <a:ext cx="2381250" cy="1123950"/>
          </a:xfrm>
          <a:prstGeom prst="roundRect">
            <a:avLst>
              <a:gd name="adj" fmla="val 6780"/>
            </a:avLst>
          </a:prstGeom>
          <a:noFill/>
          <a:ln w="1143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6B59F5-7ADF-4D73-920E-73AEBDADC86F}"/>
              </a:ext>
            </a:extLst>
          </p:cNvPr>
          <p:cNvSpPr>
            <a:spLocks noGrp="1"/>
          </p:cNvSpPr>
          <p:nvPr/>
        </p:nvSpPr>
        <p:spPr>
          <a:xfrm>
            <a:off x="6743700" y="2914650"/>
            <a:ext cx="2038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return probe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B19C26-1F02-468F-8D32-4340D55714C4}"/>
              </a:ext>
            </a:extLst>
          </p:cNvPr>
          <p:cNvSpPr>
            <a:spLocks noGrp="1"/>
          </p:cNvSpPr>
          <p:nvPr/>
        </p:nvSpPr>
        <p:spPr>
          <a:xfrm>
            <a:off x="6743700" y="3219450"/>
            <a:ext cx="203835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88" b="0">
                <a:solidFill>
                  <a:srgbClr val="111111"/>
                </a:solidFill>
                <a:latin typeface="Noto Sans CJK SC"/>
              </a:rPr>
              <a:t>zeroTrace 在 entry stub 中保存真实返回地址，再把函数的返回目标改成 exit stub。函数主体照常执行，ret 落到 exit stub 后记录返回寄存器，再从 TLS shadow stack 中取回真实返回地址。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4757A26-174D-4646-9AE6-ABFC28631548}"/>
              </a:ext>
            </a:extLst>
          </p:cNvPr>
          <p:cNvSpPr>
            <a:spLocks noGrp="1"/>
          </p:cNvSpPr>
          <p:nvPr/>
        </p:nvSpPr>
        <p:spPr>
          <a:xfrm>
            <a:off x="9105900" y="2781300"/>
            <a:ext cx="2381250" cy="1123950"/>
          </a:xfrm>
          <a:prstGeom prst="roundRect">
            <a:avLst>
              <a:gd name="adj" fmla="val 6780"/>
            </a:avLst>
          </a:prstGeom>
          <a:noFill/>
          <a:ln w="1143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A80E50-E804-4222-B0B2-AFFB5B7ED0D8}"/>
              </a:ext>
            </a:extLst>
          </p:cNvPr>
          <p:cNvSpPr>
            <a:spLocks noGrp="1"/>
          </p:cNvSpPr>
          <p:nvPr/>
        </p:nvSpPr>
        <p:spPr>
          <a:xfrm>
            <a:off x="9277350" y="2914650"/>
            <a:ext cx="2038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轻量现场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437645-EB13-44FA-B524-1B843EBDB853}"/>
              </a:ext>
            </a:extLst>
          </p:cNvPr>
          <p:cNvSpPr>
            <a:spLocks noGrp="1"/>
          </p:cNvSpPr>
          <p:nvPr/>
        </p:nvSpPr>
        <p:spPr>
          <a:xfrm>
            <a:off x="9277350" y="32194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88" b="0">
                <a:solidFill>
                  <a:srgbClr val="111111"/>
                </a:solidFill>
                <a:latin typeface="Noto Sans CJK SC"/>
              </a:rPr>
              <a:t>浮点上下文采用紧凑快照。相比完整 512 字节 FPU 状态，紧凑快照只记录日志展示需要的寄存器，降低热路径写入量。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68835" y="4343400"/>
            <a:ext cx="4063181" cy="1657350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3DB37F-AD22-416D-AB56-5BBFC0EB8ACD}"/>
              </a:ext>
            </a:extLst>
          </p:cNvPr>
          <p:cNvSpPr>
            <a:spLocks noGrp="1"/>
          </p:cNvSpPr>
          <p:nvPr/>
        </p:nvSpPr>
        <p:spPr>
          <a:xfrm>
            <a:off x="6572250" y="4476750"/>
            <a:ext cx="4914900" cy="1257300"/>
          </a:xfrm>
          <a:prstGeom prst="roundRect">
            <a:avLst>
              <a:gd name="adj" fmla="val 606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687C8D-3717-4661-B356-647A07E537AB}"/>
              </a:ext>
            </a:extLst>
          </p:cNvPr>
          <p:cNvSpPr>
            <a:spLocks noGrp="1"/>
          </p:cNvSpPr>
          <p:nvPr/>
        </p:nvSpPr>
        <p:spPr>
          <a:xfrm>
            <a:off x="6743700" y="46101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slot 复用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405139-FA99-45C2-860F-E70AEA1FAECF}"/>
              </a:ext>
            </a:extLst>
          </p:cNvPr>
          <p:cNvSpPr>
            <a:spLocks noGrp="1"/>
          </p:cNvSpPr>
          <p:nvPr/>
        </p:nvSpPr>
        <p:spPr>
          <a:xfrm>
            <a:off x="6743700" y="4914900"/>
            <a:ext cx="4572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trampoline pool 一次远程 mmap 后按 slot 切分。trace/enable 领取 free slot；untrace/detach 归还 slot；全部空闲后释放远程映射。</a:t>
            </a:r>
          </a:p>
        </p:txBody>
      </p:sp>
    </p:spTree>
    <p:extLst>
      <p:ext uri="{BB962C8B-B14F-4D97-AF65-F5344CB8AC3E}">
        <p14:creationId xmlns:p14="http://schemas.microsoft.com/office/powerpoint/2010/main" val="947391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628922F-0CB3-4630-A29C-22260CAED97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关键实现：trace buffer、过滤与热更新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9DE052-DD84-421F-97EA-76D39FA1846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311473"/>
            <a:ext cx="5143500" cy="162520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50872" y="3562350"/>
            <a:ext cx="4403856" cy="240030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A8832137-3B75-4C86-B6A7-220837DEF4CA}"/>
              </a:ext>
            </a:extLst>
          </p:cNvPr>
          <p:cNvSpPr>
            <a:spLocks noGrp="1"/>
          </p:cNvSpPr>
          <p:nvPr/>
        </p:nvSpPr>
        <p:spPr>
          <a:xfrm>
            <a:off x="6572250" y="1371600"/>
            <a:ext cx="4324350" cy="1047750"/>
          </a:xfrm>
          <a:prstGeom prst="roundRect">
            <a:avLst>
              <a:gd name="adj" fmla="val 727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91647E-064B-4213-90FF-055408F4056F}"/>
              </a:ext>
            </a:extLst>
          </p:cNvPr>
          <p:cNvSpPr>
            <a:spLocks noGrp="1"/>
          </p:cNvSpPr>
          <p:nvPr/>
        </p:nvSpPr>
        <p:spPr>
          <a:xfrm>
            <a:off x="6743700" y="1504950"/>
            <a:ext cx="398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trace buffer 发布协议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350A94-1AD5-43ED-BDC4-D6149A212F4C}"/>
              </a:ext>
            </a:extLst>
          </p:cNvPr>
          <p:cNvSpPr>
            <a:spLocks noGrp="1"/>
          </p:cNvSpPr>
          <p:nvPr/>
        </p:nvSpPr>
        <p:spPr>
          <a:xfrm>
            <a:off x="6743700" y="1809750"/>
            <a:ext cx="398145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88" b="0">
                <a:solidFill>
                  <a:srgbClr val="111111"/>
                </a:solidFill>
                <a:latin typeface="Noto Sans CJK SC"/>
              </a:rPr>
              <a:t>payload 写入时先用原子序号 reserve 一个 slot，直接在 slot 内填充 event 字段，最后写入 committed_seq。tracer 读取时先读 header；序号有变化时再按范围读取事件区，并校验 slot 前后的提交序号。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04B2A0C-514F-41A7-B77E-54D91268A3B4}"/>
              </a:ext>
            </a:extLst>
          </p:cNvPr>
          <p:cNvSpPr>
            <a:spLocks noGrp="1"/>
          </p:cNvSpPr>
          <p:nvPr/>
        </p:nvSpPr>
        <p:spPr>
          <a:xfrm>
            <a:off x="6572250" y="2724150"/>
            <a:ext cx="4324350" cy="971550"/>
          </a:xfrm>
          <a:prstGeom prst="roundRect">
            <a:avLst>
              <a:gd name="adj" fmla="val 784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A6C03F-F901-4656-9835-3953584EADC3}"/>
              </a:ext>
            </a:extLst>
          </p:cNvPr>
          <p:cNvSpPr>
            <a:spLocks noGrp="1"/>
          </p:cNvSpPr>
          <p:nvPr/>
        </p:nvSpPr>
        <p:spPr>
          <a:xfrm>
            <a:off x="6743700" y="2857500"/>
            <a:ext cx="398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异常处理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AC99B7-8CBB-411B-8ADC-8A9AA0566A3D}"/>
              </a:ext>
            </a:extLst>
          </p:cNvPr>
          <p:cNvSpPr>
            <a:spLocks noGrp="1"/>
          </p:cNvSpPr>
          <p:nvPr/>
        </p:nvSpPr>
        <p:spPr>
          <a:xfrm>
            <a:off x="6743700" y="3162300"/>
            <a:ext cx="3981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88" b="0">
                <a:solidFill>
                  <a:srgbClr val="111111"/>
                </a:solidFill>
                <a:latin typeface="Noto Sans CJK SC"/>
              </a:rPr>
              <a:t>slot 尚未提交时，reader 停在对应序列，下一轮再读；reader 落后超过 ring capacity 时，日志中会出现 ztrace:lost，并写出丢失范围。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91D56A5-0EB4-409C-8E4E-D6AE9F69A61C}"/>
              </a:ext>
            </a:extLst>
          </p:cNvPr>
          <p:cNvSpPr>
            <a:spLocks noGrp="1"/>
          </p:cNvSpPr>
          <p:nvPr/>
        </p:nvSpPr>
        <p:spPr>
          <a:xfrm>
            <a:off x="6572250" y="4095750"/>
            <a:ext cx="4324350" cy="1390650"/>
          </a:xfrm>
          <a:prstGeom prst="roundRect">
            <a:avLst>
              <a:gd name="adj" fmla="val 5479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8B1AC4-B848-47E5-AD55-72637F104018}"/>
              </a:ext>
            </a:extLst>
          </p:cNvPr>
          <p:cNvSpPr>
            <a:spLocks noGrp="1"/>
          </p:cNvSpPr>
          <p:nvPr/>
        </p:nvSpPr>
        <p:spPr>
          <a:xfrm>
            <a:off x="6743700" y="4229100"/>
            <a:ext cx="398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条件过滤与热更新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0D020E-C053-4031-A959-5BE18CAAB0B9}"/>
              </a:ext>
            </a:extLst>
          </p:cNvPr>
          <p:cNvSpPr>
            <a:spLocks noGrp="1"/>
          </p:cNvSpPr>
          <p:nvPr/>
        </p:nvSpPr>
        <p:spPr>
          <a:xfrm>
            <a:off x="6743700" y="4533900"/>
            <a:ext cx="39814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88" b="0">
                <a:solidFill>
                  <a:srgbClr val="111111"/>
                </a:solidFill>
                <a:latin typeface="Noto Sans CJK SC"/>
              </a:rPr>
              <a:t>条件过滤放在 tracer 消费 entry event 时求值，目标进程里的 payload 继续负责采集快照和写事件。update 采用替换语义；filter 更新发生在 tracer 侧，目标进程继续运行；call action 更新会写入远程 action 表，并通过非零 commit token 发布完整快照。</a:t>
            </a:r>
          </a:p>
        </p:txBody>
      </p:sp>
    </p:spTree>
    <p:extLst>
      <p:ext uri="{BB962C8B-B14F-4D97-AF65-F5344CB8AC3E}">
        <p14:creationId xmlns:p14="http://schemas.microsoft.com/office/powerpoint/2010/main" val="88417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81C9278-A833-4E2C-9A79-2841F9AD15D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关键实现：线程组安全窗口与多架构后端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5032E3-3019-4F47-BD97-FF432D2C3B5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" y="1790972"/>
            <a:ext cx="5219700" cy="165680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0828" y="4191000"/>
            <a:ext cx="4199143" cy="209550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625D59DB-6D94-4394-B514-8350BFA11D55}"/>
              </a:ext>
            </a:extLst>
          </p:cNvPr>
          <p:cNvSpPr>
            <a:spLocks noGrp="1"/>
          </p:cNvSpPr>
          <p:nvPr/>
        </p:nvSpPr>
        <p:spPr>
          <a:xfrm>
            <a:off x="6572250" y="1352550"/>
            <a:ext cx="4419600" cy="1428750"/>
          </a:xfrm>
          <a:prstGeom prst="roundRect">
            <a:avLst>
              <a:gd name="adj" fmla="val 533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40D6C7-103A-47A6-9AE7-06B567792FEA}"/>
              </a:ext>
            </a:extLst>
          </p:cNvPr>
          <p:cNvSpPr>
            <a:spLocks noGrp="1"/>
          </p:cNvSpPr>
          <p:nvPr/>
        </p:nvSpPr>
        <p:spPr>
          <a:xfrm>
            <a:off x="6705600" y="1447800"/>
            <a:ext cx="415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patch 安全窗口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C02620-8E6C-47A4-A401-1B0C83E0782A}"/>
              </a:ext>
            </a:extLst>
          </p:cNvPr>
          <p:cNvSpPr>
            <a:spLocks noGrp="1"/>
          </p:cNvSpPr>
          <p:nvPr/>
        </p:nvSpPr>
        <p:spPr>
          <a:xfrm>
            <a:off x="6705600" y="1695450"/>
            <a:ext cx="41529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多线程安全的关键在于避开 patch 与线程执行窗口互相踩踏。改写或恢复入口 patch 前，读取每个 stopped TID 的 PC；若 PC 位于任一 patch 区间，则 single-step 到安全位置。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24D3D5C-9401-477B-8E73-3FF28407F979}"/>
              </a:ext>
            </a:extLst>
          </p:cNvPr>
          <p:cNvSpPr>
            <a:spLocks noGrp="1"/>
          </p:cNvSpPr>
          <p:nvPr/>
        </p:nvSpPr>
        <p:spPr>
          <a:xfrm>
            <a:off x="6572250" y="3105150"/>
            <a:ext cx="4419600" cy="1104900"/>
          </a:xfrm>
          <a:prstGeom prst="roundRect">
            <a:avLst>
              <a:gd name="adj" fmla="val 6897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8A2B6B-1948-4B2A-8C13-CA6661919777}"/>
              </a:ext>
            </a:extLst>
          </p:cNvPr>
          <p:cNvSpPr>
            <a:spLocks noGrp="1"/>
          </p:cNvSpPr>
          <p:nvPr/>
        </p:nvSpPr>
        <p:spPr>
          <a:xfrm>
            <a:off x="6705600" y="3200400"/>
            <a:ext cx="415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运行中线程处理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10F71B-E977-44C0-8E42-B17EE1187979}"/>
              </a:ext>
            </a:extLst>
          </p:cNvPr>
          <p:cNvSpPr>
            <a:spLocks noGrp="1"/>
          </p:cNvSpPr>
          <p:nvPr/>
        </p:nvSpPr>
        <p:spPr>
          <a:xfrm>
            <a:off x="6705600" y="3448050"/>
            <a:ext cx="4152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这套流程专门处理运行中创建线程的窗口。每轮 interrupt 后都会重新读取目标线程表，发现新 TID 就继续 seize 和 interrupt。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70D7959-CE10-4F3C-B871-BA255654A995}"/>
              </a:ext>
            </a:extLst>
          </p:cNvPr>
          <p:cNvSpPr>
            <a:spLocks noGrp="1"/>
          </p:cNvSpPr>
          <p:nvPr/>
        </p:nvSpPr>
        <p:spPr>
          <a:xfrm>
            <a:off x="6572250" y="4533900"/>
            <a:ext cx="4419600" cy="1257300"/>
          </a:xfrm>
          <a:prstGeom prst="roundRect">
            <a:avLst>
              <a:gd name="adj" fmla="val 606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501D96-2424-4DD2-87B0-C387352C1C4E}"/>
              </a:ext>
            </a:extLst>
          </p:cNvPr>
          <p:cNvSpPr>
            <a:spLocks noGrp="1"/>
          </p:cNvSpPr>
          <p:nvPr/>
        </p:nvSpPr>
        <p:spPr>
          <a:xfrm>
            <a:off x="6705600" y="4629150"/>
            <a:ext cx="415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多架构后端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3C37A9-FF25-4E67-B8E1-0D04C24D32B1}"/>
              </a:ext>
            </a:extLst>
          </p:cNvPr>
          <p:cNvSpPr>
            <a:spLocks noGrp="1"/>
          </p:cNvSpPr>
          <p:nvPr/>
        </p:nvSpPr>
        <p:spPr>
          <a:xfrm>
            <a:off x="6705600" y="4876800"/>
            <a:ext cx="4152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ptrace 注入的高层流程与 CPU 架构关系不大，但远程 syscall、远程函数调用、入口 patch 模板、trampoline 重定位和 stub 现场保存都强依赖 ISA。</a:t>
            </a:r>
          </a:p>
        </p:txBody>
      </p:sp>
    </p:spTree>
    <p:extLst>
      <p:ext uri="{BB962C8B-B14F-4D97-AF65-F5344CB8AC3E}">
        <p14:creationId xmlns:p14="http://schemas.microsoft.com/office/powerpoint/2010/main" val="133369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5CD02BF3-FE9A-43A7-A106-E0CF2DD86C2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实验成果总览：功能、性能与压力验证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FA148F-EE89-4644-A500-7C184539047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9FD736-ADA2-4621-ACB6-CBCEFB083D1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endParaRPr sz="1275" b="0" dirty="0">
              <a:solidFill>
                <a:srgbClr val="111111"/>
              </a:solidFill>
              <a:latin typeface="Noto Sans CJK SC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BFED32-9992-45F0-8576-E8D7CCC87276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400300" cy="1314450"/>
          </a:xfrm>
          <a:prstGeom prst="roundRect">
            <a:avLst>
              <a:gd name="adj" fmla="val 5797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18A480-AEA9-4972-8BD2-4EFBF75F9151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正确性覆盖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DE528C-4741-4FB0-AE6E-582DAF0EDC24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F1-F7 / A1-A5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E9267E-75AF-4184-80DC-097EC1E9B992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209550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919" b="0">
                <a:solidFill>
                  <a:srgbClr val="111111"/>
                </a:solidFill>
                <a:latin typeface="Noto Sans CJK SC"/>
              </a:rPr>
              <a:t>测试记录覆盖了 F1-F7；A1 中的 x86_64 后端已经跑完整套测试，aarch64 后端已有构建选择检查和后端代码。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4056426-7F76-462C-B768-41344E3A1E24}"/>
              </a:ext>
            </a:extLst>
          </p:cNvPr>
          <p:cNvSpPr>
            <a:spLocks noGrp="1"/>
          </p:cNvSpPr>
          <p:nvPr/>
        </p:nvSpPr>
        <p:spPr>
          <a:xfrm>
            <a:off x="3390900" y="1790700"/>
            <a:ext cx="2400300" cy="1314450"/>
          </a:xfrm>
          <a:prstGeom prst="roundRect">
            <a:avLst>
              <a:gd name="adj" fmla="val 5797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F02ABC-3833-448B-9B12-4DB14CE25D3C}"/>
              </a:ext>
            </a:extLst>
          </p:cNvPr>
          <p:cNvSpPr>
            <a:spLocks noGrp="1"/>
          </p:cNvSpPr>
          <p:nvPr/>
        </p:nvSpPr>
        <p:spPr>
          <a:xfrm>
            <a:off x="3543300" y="19240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单次额外开销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63C122-6C81-4E9E-927B-385C57787591}"/>
              </a:ext>
            </a:extLst>
          </p:cNvPr>
          <p:cNvSpPr>
            <a:spLocks noGrp="1"/>
          </p:cNvSpPr>
          <p:nvPr/>
        </p:nvSpPr>
        <p:spPr>
          <a:xfrm>
            <a:off x="3543300" y="21907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174.45 ns/call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1A94F5-A2B2-40B7-9D8F-79C660235465}"/>
              </a:ext>
            </a:extLst>
          </p:cNvPr>
          <p:cNvSpPr>
            <a:spLocks noGrp="1"/>
          </p:cNvSpPr>
          <p:nvPr/>
        </p:nvSpPr>
        <p:spPr>
          <a:xfrm>
            <a:off x="3543300" y="26098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13" b="0">
                <a:solidFill>
                  <a:srgbClr val="111111"/>
                </a:solidFill>
                <a:latin typeface="Noto Sans CJK SC"/>
              </a:rPr>
              <a:t>低于赛题 1000 ns 指标，也低于项目内部设定的 200 ns 优化目标。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CD26E20-538F-4E38-AC43-6AEA1854B62F}"/>
              </a:ext>
            </a:extLst>
          </p:cNvPr>
          <p:cNvSpPr>
            <a:spLocks noGrp="1"/>
          </p:cNvSpPr>
          <p:nvPr/>
        </p:nvSpPr>
        <p:spPr>
          <a:xfrm>
            <a:off x="6096000" y="1790700"/>
            <a:ext cx="2400300" cy="1314450"/>
          </a:xfrm>
          <a:prstGeom prst="roundRect">
            <a:avLst>
              <a:gd name="adj" fmla="val 5797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44570F-D83A-4762-9B04-DF9DBBBD8579}"/>
              </a:ext>
            </a:extLst>
          </p:cNvPr>
          <p:cNvSpPr>
            <a:spLocks noGrp="1"/>
          </p:cNvSpPr>
          <p:nvPr/>
        </p:nvSpPr>
        <p:spPr>
          <a:xfrm>
            <a:off x="6248400" y="19240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uprobe 对照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878F7F-28C3-4487-A1DE-FEEA3620B25A}"/>
              </a:ext>
            </a:extLst>
          </p:cNvPr>
          <p:cNvSpPr>
            <a:spLocks noGrp="1"/>
          </p:cNvSpPr>
          <p:nvPr/>
        </p:nvSpPr>
        <p:spPr>
          <a:xfrm>
            <a:off x="6248400" y="21907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11.08x lower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C77ADD-98BA-4C21-8DC1-994E2E004DD8}"/>
              </a:ext>
            </a:extLst>
          </p:cNvPr>
          <p:cNvSpPr>
            <a:spLocks noGrp="1"/>
          </p:cNvSpPr>
          <p:nvPr/>
        </p:nvSpPr>
        <p:spPr>
          <a:xfrm>
            <a:off x="6248400" y="26098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13" b="0">
                <a:solidFill>
                  <a:srgbClr val="111111"/>
                </a:solidFill>
                <a:latin typeface="Noto Sans CJK SC"/>
              </a:rPr>
              <a:t>kernel uprobe 的额外开销均值约 1933.20 ns/call。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A8E35F6-77DA-401E-B3C6-F301BE5789C5}"/>
              </a:ext>
            </a:extLst>
          </p:cNvPr>
          <p:cNvSpPr>
            <a:spLocks noGrp="1"/>
          </p:cNvSpPr>
          <p:nvPr/>
        </p:nvSpPr>
        <p:spPr>
          <a:xfrm>
            <a:off x="8801100" y="1790700"/>
            <a:ext cx="2400300" cy="1314450"/>
          </a:xfrm>
          <a:prstGeom prst="roundRect">
            <a:avLst>
              <a:gd name="adj" fmla="val 5797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F50605-5E9D-4518-9C04-93CD972B725C}"/>
              </a:ext>
            </a:extLst>
          </p:cNvPr>
          <p:cNvSpPr>
            <a:spLocks noGrp="1"/>
          </p:cNvSpPr>
          <p:nvPr/>
        </p:nvSpPr>
        <p:spPr>
          <a:xfrm>
            <a:off x="8953500" y="19240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生命周期延迟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55705A-3996-4411-B6BD-40220CAC5C52}"/>
              </a:ext>
            </a:extLst>
          </p:cNvPr>
          <p:cNvSpPr>
            <a:spLocks noGrp="1"/>
          </p:cNvSpPr>
          <p:nvPr/>
        </p:nvSpPr>
        <p:spPr>
          <a:xfrm>
            <a:off x="8953500" y="21907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0.371/0.084 ms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A1E5BC-3337-41E4-BA34-DFD92717D0A5}"/>
              </a:ext>
            </a:extLst>
          </p:cNvPr>
          <p:cNvSpPr>
            <a:spLocks noGrp="1"/>
          </p:cNvSpPr>
          <p:nvPr/>
        </p:nvSpPr>
        <p:spPr>
          <a:xfrm>
            <a:off x="8953500" y="26098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install / uninstall latency avg，均为 1000 轮平均。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50921B1-5D58-4907-80CE-D138001F7A36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实验环境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878348-13B0-482C-B502-0DE9BA1C2211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38100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A5D35CA-21DF-419A-8ABC-991FEDDB205B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CPU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27579E-7338-406F-9F3F-7DC67F0FF09A}"/>
              </a:ext>
            </a:extLst>
          </p:cNvPr>
          <p:cNvSpPr>
            <a:spLocks noGrp="1"/>
          </p:cNvSpPr>
          <p:nvPr/>
        </p:nvSpPr>
        <p:spPr>
          <a:xfrm>
            <a:off x="2286000" y="40195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1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1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13th Gen Intel(R) Core(TM) i5-13400，16 logical CPUs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987C16-C18E-491F-A0D3-7DCB66EE9B86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820400" cy="38100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C5B15C6-3E50-4DCE-A650-32FED37A387F}"/>
              </a:ext>
            </a:extLst>
          </p:cNvPr>
          <p:cNvSpPr>
            <a:spLocks noGrp="1"/>
          </p:cNvSpPr>
          <p:nvPr/>
        </p:nvSpPr>
        <p:spPr>
          <a:xfrm>
            <a:off x="800100" y="447675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架构 / Kernel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113AE74-A9BC-4CE7-AF2F-E58D07ECDD81}"/>
              </a:ext>
            </a:extLst>
          </p:cNvPr>
          <p:cNvSpPr>
            <a:spLocks noGrp="1"/>
          </p:cNvSpPr>
          <p:nvPr/>
        </p:nvSpPr>
        <p:spPr>
          <a:xfrm>
            <a:off x="2286000" y="44767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1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1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x86_64；5.10.240-zeroVisor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929B9F-CD21-491B-8C90-F5C9DDED389D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820400" cy="38100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50F5DB-40D2-401E-B3F4-09E515C58059}"/>
              </a:ext>
            </a:extLst>
          </p:cNvPr>
          <p:cNvSpPr>
            <a:spLocks noGrp="1"/>
          </p:cNvSpPr>
          <p:nvPr/>
        </p:nvSpPr>
        <p:spPr>
          <a:xfrm>
            <a:off x="800100" y="493395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测试入口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A57DBB-5320-4637-B4C8-BAC01B715BFB}"/>
              </a:ext>
            </a:extLst>
          </p:cNvPr>
          <p:cNvSpPr>
            <a:spLocks noGrp="1"/>
          </p:cNvSpPr>
          <p:nvPr/>
        </p:nvSpPr>
        <p:spPr>
          <a:xfrm>
            <a:off x="2286000" y="49339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1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1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make test；make benchmark；scan-build --status-bugs make clean all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E672F05-ADFF-4D1A-A976-9967D26F28BA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820400" cy="38100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E80BF6F-7250-466C-BBBA-F937F7F58D2B}"/>
              </a:ext>
            </a:extLst>
          </p:cNvPr>
          <p:cNvSpPr>
            <a:spLocks noGrp="1"/>
          </p:cNvSpPr>
          <p:nvPr/>
        </p:nvSpPr>
        <p:spPr>
          <a:xfrm>
            <a:off x="800100" y="539115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benchmark 条件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3170CD-F269-4C03-872F-09FD94628FCA}"/>
              </a:ext>
            </a:extLst>
          </p:cNvPr>
          <p:cNvSpPr>
            <a:spLocks noGrp="1"/>
          </p:cNvSpPr>
          <p:nvPr/>
        </p:nvSpPr>
        <p:spPr>
          <a:xfrm>
            <a:off x="2286000" y="53911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1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1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iterations=1,000,000；repeats=5；tracingfs 可用时纳入 kernel uprobe 对照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C63FAC3-5B9E-4C01-9A76-C04EA29583F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723900"/>
          </a:xfrm>
          <a:prstGeom prst="roundRect">
            <a:avLst>
              <a:gd name="adj" fmla="val 10526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9222224-C41D-43AC-82BC-109BC1F1FF7C}"/>
              </a:ext>
            </a:extLst>
          </p:cNvPr>
          <p:cNvSpPr>
            <a:spLocks noGrp="1"/>
          </p:cNvSpPr>
          <p:nvPr/>
        </p:nvSpPr>
        <p:spPr>
          <a:xfrm>
            <a:off x="857250" y="598170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结论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22BB5B2-5C8F-456F-BA3C-D8F209B0DB14}"/>
              </a:ext>
            </a:extLst>
          </p:cNvPr>
          <p:cNvSpPr>
            <a:spLocks noGrp="1"/>
          </p:cNvSpPr>
          <p:nvPr/>
        </p:nvSpPr>
        <p:spPr>
          <a:xfrm>
            <a:off x="857250" y="6229350"/>
            <a:ext cx="10287000" cy="4023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05" b="0">
                <a:solidFill>
                  <a:srgbClr val="111111"/>
                </a:solidFill>
                <a:latin typeface="Noto Sans CJK SC"/>
              </a:rPr>
              <a:t>本轮结果中，zeroTrace 额外开销约 174.45 ns/call，低于赛题 1000 ns 指标，也低于项目内部设定的 200 ns 优化目标；</a:t>
            </a:r>
          </a:p>
          <a:p>
            <a:r>
              <a:rPr sz="1005" b="0">
                <a:solidFill>
                  <a:srgbClr val="111111"/>
                </a:solidFill>
                <a:latin typeface="Noto Sans CJK SC"/>
              </a:rPr>
              <a:t>install/uninstall 延迟均低于 1 ms，距离赛题 10 ms 指标还有较大余量。</a:t>
            </a:r>
          </a:p>
        </p:txBody>
      </p:sp>
    </p:spTree>
    <p:extLst>
      <p:ext uri="{BB962C8B-B14F-4D97-AF65-F5344CB8AC3E}">
        <p14:creationId xmlns:p14="http://schemas.microsoft.com/office/powerpoint/2010/main" val="1516308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A644D5FF-A469-4FAF-94B5-3539E0A343B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正确性实验：自动化测试矩阵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73E4DA-E158-40A3-A38B-7AA149B4497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08C95A-C3CB-4776-B1DA-DE11D76C532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endParaRPr sz="1238" b="0" dirty="0">
              <a:solidFill>
                <a:srgbClr val="111111"/>
              </a:solidFill>
              <a:latin typeface="Noto Sans CJK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CAE7CE-93A6-42E1-9104-F4F1C20E571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核心功能用例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BEB809-AEE9-4132-AE6E-EF0C2F2B19B3}"/>
              </a:ext>
            </a:extLst>
          </p:cNvPr>
          <p:cNvSpPr>
            <a:spLocks noGrp="1"/>
          </p:cNvSpPr>
          <p:nvPr/>
        </p:nvSpPr>
        <p:spPr>
          <a:xfrm>
            <a:off x="6477000" y="16764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压力、脚本与静态检查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A898BA4-38C3-41AB-BE7E-D1D3409A8784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5143500" cy="552450"/>
          </a:xfrm>
          <a:prstGeom prst="roundRect">
            <a:avLst>
              <a:gd name="adj" fmla="val 1379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F4A28B-CA8F-4471-B413-B4E0548251D1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487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test_libc_trace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3696B0-77C8-4B01-A834-7735A82CC1EF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4876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动态库函数、参数、返回值、字符串 / buffer、format string 展开。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82DAC04-C4E9-41BD-B50B-F4CA1216B2CA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5143500" cy="552450"/>
          </a:xfrm>
          <a:prstGeom prst="roundRect">
            <a:avLst>
              <a:gd name="adj" fmla="val 1379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1DE5A1-EC73-4ED8-8799-B1AD0D7D7A88}"/>
              </a:ext>
            </a:extLst>
          </p:cNvPr>
          <p:cNvSpPr>
            <a:spLocks noGrp="1"/>
          </p:cNvSpPr>
          <p:nvPr/>
        </p:nvSpPr>
        <p:spPr>
          <a:xfrm>
            <a:off x="819150" y="2819400"/>
            <a:ext cx="487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test_context_integrity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9E01E4-E893-4131-86E9-B82CF7F11D8E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4876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通用寄存器、标志寄存器、浮点参数和浮点返回值上下文完整。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F1F53AC-CD3D-4B8D-B748-AD4334080779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5143500" cy="552450"/>
          </a:xfrm>
          <a:prstGeom prst="roundRect">
            <a:avLst>
              <a:gd name="adj" fmla="val 1379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FBE1A3-7A0C-45B0-8FC1-F67A932CD8AD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487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test_probe_lifecycle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0DD4AA-8FEC-4A87-B89F-4725A45977BF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4876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16 probe 共存、条件过滤、call action、slot 分配与清理恢复。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1E654F4-9FD2-4A86-BCE7-C8C091F83B4C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5143500" cy="552450"/>
          </a:xfrm>
          <a:prstGeom prst="roundRect">
            <a:avLst>
              <a:gd name="adj" fmla="val 1379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0231B1-10DD-44B0-BCCE-5E3FFCD5937A}"/>
              </a:ext>
            </a:extLst>
          </p:cNvPr>
          <p:cNvSpPr>
            <a:spLocks noGrp="1"/>
          </p:cNvSpPr>
          <p:nvPr/>
        </p:nvSpPr>
        <p:spPr>
          <a:xfrm>
            <a:off x="819150" y="4152900"/>
            <a:ext cx="487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test_thread_safety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044EB8-2421-4891-BC4D-6C2B74707FDB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4876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多线程并发命中、entry/return 配平、运行中 enable/disable。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4B9E0CA-09C2-4E70-A491-FFC64FCB27CA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5143500" cy="552450"/>
          </a:xfrm>
          <a:prstGeom prst="roundRect">
            <a:avLst>
              <a:gd name="adj" fmla="val 1379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7DCFED0-FE34-4F25-9BA5-775C35F5B3A6}"/>
              </a:ext>
            </a:extLst>
          </p:cNvPr>
          <p:cNvSpPr>
            <a:spLocks noGrp="1"/>
          </p:cNvSpPr>
          <p:nvPr/>
        </p:nvSpPr>
        <p:spPr>
          <a:xfrm>
            <a:off x="819150" y="4819650"/>
            <a:ext cx="487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test_thread_group_control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79E5DA-1356-4692-AF55-22390E38F5E2}"/>
              </a:ext>
            </a:extLst>
          </p:cNvPr>
          <p:cNvSpPr>
            <a:spLocks noGrp="1"/>
          </p:cNvSpPr>
          <p:nvPr/>
        </p:nvSpPr>
        <p:spPr>
          <a:xfrm>
            <a:off x="819150" y="5067300"/>
            <a:ext cx="4876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新线程纳入 ptrace 控制，线程组 stop/continue 收敛。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016E9A9-49A3-4D2B-A921-2B74E6BC6A6E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5143500" cy="552450"/>
          </a:xfrm>
          <a:prstGeom prst="roundRect">
            <a:avLst>
              <a:gd name="adj" fmla="val 1379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F75B8D7-65D7-43A9-95A7-4D5EBAB1778A}"/>
              </a:ext>
            </a:extLst>
          </p:cNvPr>
          <p:cNvSpPr>
            <a:spLocks noGrp="1"/>
          </p:cNvSpPr>
          <p:nvPr/>
        </p:nvSpPr>
        <p:spPr>
          <a:xfrm>
            <a:off x="819150" y="5486400"/>
            <a:ext cx="487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test_probe_hot_update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56C4D4-8971-4973-BF03-8A3B0FB0FBF0}"/>
              </a:ext>
            </a:extLst>
          </p:cNvPr>
          <p:cNvSpPr>
            <a:spLocks noGrp="1"/>
          </p:cNvSpPr>
          <p:nvPr/>
        </p:nvSpPr>
        <p:spPr>
          <a:xfrm>
            <a:off x="819150" y="5734050"/>
            <a:ext cx="4876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filter、call action、enable/disable 热更新。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5EBFFA9-CB1C-4612-9015-64E32C0051B0}"/>
              </a:ext>
            </a:extLst>
          </p:cNvPr>
          <p:cNvSpPr>
            <a:spLocks noGrp="1"/>
          </p:cNvSpPr>
          <p:nvPr/>
        </p:nvSpPr>
        <p:spPr>
          <a:xfrm>
            <a:off x="6477000" y="2057400"/>
            <a:ext cx="5029200" cy="628650"/>
          </a:xfrm>
          <a:prstGeom prst="roundRect">
            <a:avLst>
              <a:gd name="adj" fmla="val 1212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CD7E23-9EB7-46FF-9804-839CB81B6452}"/>
              </a:ext>
            </a:extLst>
          </p:cNvPr>
          <p:cNvSpPr>
            <a:spLocks noGrp="1"/>
          </p:cNvSpPr>
          <p:nvPr/>
        </p:nvSpPr>
        <p:spPr>
          <a:xfrm>
            <a:off x="6610350" y="2152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test_poll_exit_race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7158E5-20DA-4407-B525-C244904AC9A8}"/>
              </a:ext>
            </a:extLst>
          </p:cNvPr>
          <p:cNvSpPr>
            <a:spLocks noGrp="1"/>
          </p:cNvSpPr>
          <p:nvPr/>
        </p:nvSpPr>
        <p:spPr>
          <a:xfrm>
            <a:off x="6610350" y="24003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短生命周期进程退出窗口，poll 正常收尾，已记录 1000 轮压力。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C12CFA8-DF3A-4DEC-970F-5BD12031187C}"/>
              </a:ext>
            </a:extLst>
          </p:cNvPr>
          <p:cNvSpPr>
            <a:spLocks noGrp="1"/>
          </p:cNvSpPr>
          <p:nvPr/>
        </p:nvSpPr>
        <p:spPr>
          <a:xfrm>
            <a:off x="6477000" y="2800350"/>
            <a:ext cx="5029200" cy="628650"/>
          </a:xfrm>
          <a:prstGeom prst="roundRect">
            <a:avLst>
              <a:gd name="adj" fmla="val 1212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23FE31-CAB4-4C51-BB02-3FEAD49B5B8D}"/>
              </a:ext>
            </a:extLst>
          </p:cNvPr>
          <p:cNvSpPr>
            <a:spLocks noGrp="1"/>
          </p:cNvSpPr>
          <p:nvPr/>
        </p:nvSpPr>
        <p:spPr>
          <a:xfrm>
            <a:off x="6610350" y="2895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test_trace_buffer_reader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C1549E-4140-4E9A-A03C-210023997DEF}"/>
              </a:ext>
            </a:extLst>
          </p:cNvPr>
          <p:cNvSpPr>
            <a:spLocks noGrp="1"/>
          </p:cNvSpPr>
          <p:nvPr/>
        </p:nvSpPr>
        <p:spPr>
          <a:xfrm>
            <a:off x="6610350" y="31432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ring buffer wrap、lost event、未提交 slot 处理。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EAC353C-18C4-45D7-8C20-823695153228}"/>
              </a:ext>
            </a:extLst>
          </p:cNvPr>
          <p:cNvSpPr>
            <a:spLocks noGrp="1"/>
          </p:cNvSpPr>
          <p:nvPr/>
        </p:nvSpPr>
        <p:spPr>
          <a:xfrm>
            <a:off x="6477000" y="3543300"/>
            <a:ext cx="5029200" cy="628650"/>
          </a:xfrm>
          <a:prstGeom prst="roundRect">
            <a:avLst>
              <a:gd name="adj" fmla="val 1212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A09B3A0-7097-4F33-8208-27EA4732DC62}"/>
              </a:ext>
            </a:extLst>
          </p:cNvPr>
          <p:cNvSpPr>
            <a:spLocks noGrp="1"/>
          </p:cNvSpPr>
          <p:nvPr/>
        </p:nvSpPr>
        <p:spPr>
          <a:xfrm>
            <a:off x="6610350" y="36385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check_arch_config.py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96605B5-F299-4C05-9E10-3C98C7DED055}"/>
              </a:ext>
            </a:extLst>
          </p:cNvPr>
          <p:cNvSpPr>
            <a:spLocks noGrp="1"/>
          </p:cNvSpPr>
          <p:nvPr/>
        </p:nvSpPr>
        <p:spPr>
          <a:xfrm>
            <a:off x="6610350" y="38862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x86_64 / aarch64 Makefile 后端选择检查。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2F200AE-9DC1-48E5-97A9-A4C282CB5C69}"/>
              </a:ext>
            </a:extLst>
          </p:cNvPr>
          <p:cNvSpPr>
            <a:spLocks noGrp="1"/>
          </p:cNvSpPr>
          <p:nvPr/>
        </p:nvSpPr>
        <p:spPr>
          <a:xfrm>
            <a:off x="6477000" y="4286250"/>
            <a:ext cx="5029200" cy="628650"/>
          </a:xfrm>
          <a:prstGeom prst="roundRect">
            <a:avLst>
              <a:gd name="adj" fmla="val 1212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AC39ABF-D73E-44B1-AF80-B6F41F02A431}"/>
              </a:ext>
            </a:extLst>
          </p:cNvPr>
          <p:cNvSpPr>
            <a:spLocks noGrp="1"/>
          </p:cNvSpPr>
          <p:nvPr/>
        </p:nvSpPr>
        <p:spPr>
          <a:xfrm>
            <a:off x="6610350" y="4381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merge_trace_events.py --self-test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E16B35F-9830-4581-AFE1-2B85C52CE771}"/>
              </a:ext>
            </a:extLst>
          </p:cNvPr>
          <p:cNvSpPr>
            <a:spLocks noGrp="1"/>
          </p:cNvSpPr>
          <p:nvPr/>
        </p:nvSpPr>
        <p:spPr>
          <a:xfrm>
            <a:off x="6610350" y="4629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zeroTrace 与 perf/ftrace 风格日志排序合流。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80D2EC0-9FA3-4D35-AD2E-B817639CE674}"/>
              </a:ext>
            </a:extLst>
          </p:cNvPr>
          <p:cNvSpPr>
            <a:spLocks noGrp="1"/>
          </p:cNvSpPr>
          <p:nvPr/>
        </p:nvSpPr>
        <p:spPr>
          <a:xfrm>
            <a:off x="6477000" y="5029200"/>
            <a:ext cx="5029200" cy="628650"/>
          </a:xfrm>
          <a:prstGeom prst="roundRect">
            <a:avLst>
              <a:gd name="adj" fmla="val 1212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CCCD53-A445-461A-8679-F11A0D56AA49}"/>
              </a:ext>
            </a:extLst>
          </p:cNvPr>
          <p:cNvSpPr>
            <a:spLocks noGrp="1"/>
          </p:cNvSpPr>
          <p:nvPr/>
        </p:nvSpPr>
        <p:spPr>
          <a:xfrm>
            <a:off x="6610350" y="51244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scan-build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9C2741F-68E9-42D7-AF85-10660C6B1D01}"/>
              </a:ext>
            </a:extLst>
          </p:cNvPr>
          <p:cNvSpPr>
            <a:spLocks noGrp="1"/>
          </p:cNvSpPr>
          <p:nvPr/>
        </p:nvSpPr>
        <p:spPr>
          <a:xfrm>
            <a:off x="6610350" y="5372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scan-build --status-bugs make clean all；结果为 No bugs found。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829F26E-CF2E-4B8A-8A4E-FB5DBE701871}"/>
              </a:ext>
            </a:extLst>
          </p:cNvPr>
          <p:cNvSpPr>
            <a:spLocks noGrp="1"/>
          </p:cNvSpPr>
          <p:nvPr/>
        </p:nvSpPr>
        <p:spPr>
          <a:xfrm>
            <a:off x="685800" y="62484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endParaRPr sz="1065" b="0" dirty="0">
              <a:solidFill>
                <a:srgbClr val="111111"/>
              </a:solidFill>
              <a:latin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469536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B150E961-350A-4287-9892-63B012E8D24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性能实验方法：四组实验、同一函数入口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B2794F-A895-49CC-B89F-DDD091E357C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C01551-14ED-4B72-A86D-47B7C3BC86E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238" b="0">
                <a:solidFill>
                  <a:srgbClr val="111111"/>
                </a:solidFill>
                <a:latin typeface="Noto Sans CJK SC"/>
              </a:rPr>
              <a:t>benchmark 目标函数是一个 noinline 的 getpid 包装函数，内部直接发起 getpid syscall。这样可以避开 libc/vDSO 的实现差异，让 baseline、kernel uprobe 和 zeroTrace 三组实验尽量测量同一个用户态函数入口。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FA69147-8C77-4019-8F4F-04D32BF09395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4953000" cy="781050"/>
          </a:xfrm>
          <a:prstGeom prst="roundRect">
            <a:avLst>
              <a:gd name="adj" fmla="val 9756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DDCD28-C87E-40F4-8D29-AE5BC745D1D8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baseline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5A73CB-5D82-4EBF-A34C-CEA0D5FF7DF2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直接循环调用 bench_getpid()，作为无探针基线。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61C4F8F-D420-42EA-87BE-038D427C6C8C}"/>
              </a:ext>
            </a:extLst>
          </p:cNvPr>
          <p:cNvSpPr>
            <a:spLocks noGrp="1"/>
          </p:cNvSpPr>
          <p:nvPr/>
        </p:nvSpPr>
        <p:spPr>
          <a:xfrm>
            <a:off x="6096000" y="1905000"/>
            <a:ext cx="4953000" cy="781050"/>
          </a:xfrm>
          <a:prstGeom prst="roundRect">
            <a:avLst>
              <a:gd name="adj" fmla="val 9756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C837B1-F444-4AA6-AC83-4ABE2FB5F591}"/>
              </a:ext>
            </a:extLst>
          </p:cNvPr>
          <p:cNvSpPr>
            <a:spLocks noGrp="1"/>
          </p:cNvSpPr>
          <p:nvPr/>
        </p:nvSpPr>
        <p:spPr>
          <a:xfrm>
            <a:off x="6267450" y="20383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zeroTrace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7954FD-DC08-4B87-89E3-E58FB2A4E5A5}"/>
              </a:ext>
            </a:extLst>
          </p:cNvPr>
          <p:cNvSpPr>
            <a:spLocks noGrp="1"/>
          </p:cNvSpPr>
          <p:nvPr/>
        </p:nvSpPr>
        <p:spPr>
          <a:xfrm>
            <a:off x="6267450" y="23431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在同一目标函数上安装 probe 后执行相同循环。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701895B-E2B5-46E8-A094-AE6CB0CC7F94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4953000" cy="781050"/>
          </a:xfrm>
          <a:prstGeom prst="roundRect">
            <a:avLst>
              <a:gd name="adj" fmla="val 9756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72D85C-888B-4B86-8D8C-C77176D7B0E8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kernel uprobe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5D5D5B-0F70-4ED2-906B-3CD5C924DA8F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权限满足时使用 bpftrace 对同一函数采样，纳入对照。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BE37EB-E037-4B82-9947-0DB5CC3B6A97}"/>
              </a:ext>
            </a:extLst>
          </p:cNvPr>
          <p:cNvSpPr>
            <a:spLocks noGrp="1"/>
          </p:cNvSpPr>
          <p:nvPr/>
        </p:nvSpPr>
        <p:spPr>
          <a:xfrm>
            <a:off x="6096000" y="2971800"/>
            <a:ext cx="4953000" cy="781050"/>
          </a:xfrm>
          <a:prstGeom prst="roundRect">
            <a:avLst>
              <a:gd name="adj" fmla="val 9756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CC9661-9F33-40F7-86BD-31716D738BB0}"/>
              </a:ext>
            </a:extLst>
          </p:cNvPr>
          <p:cNvSpPr>
            <a:spLocks noGrp="1"/>
          </p:cNvSpPr>
          <p:nvPr/>
        </p:nvSpPr>
        <p:spPr>
          <a:xfrm>
            <a:off x="6267450" y="31051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生命周期延迟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83E5F1-9B7D-4F49-830B-4B079B0643DA}"/>
              </a:ext>
            </a:extLst>
          </p:cNvPr>
          <p:cNvSpPr>
            <a:spLocks noGrp="1"/>
          </p:cNvSpPr>
          <p:nvPr/>
        </p:nvSpPr>
        <p:spPr>
          <a:xfrm>
            <a:off x="6267450" y="34099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对同一个 probe 执行 1000 轮 install / uninstall。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0D3C5C-4C53-444E-A154-2C824A67C2AB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参数与公式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326802-707A-40A2-AD3E-F2BF4819FA64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10820400" cy="32385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4E44E0-4C3A-4FEF-ADD7-BD2FEAEDED6A}"/>
              </a:ext>
            </a:extLst>
          </p:cNvPr>
          <p:cNvSpPr>
            <a:spLocks noGrp="1"/>
          </p:cNvSpPr>
          <p:nvPr/>
        </p:nvSpPr>
        <p:spPr>
          <a:xfrm>
            <a:off x="800100" y="4781550"/>
            <a:ext cx="1981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默认参数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F6DCAB-18F4-4BF2-B092-BBFFEE321E18}"/>
              </a:ext>
            </a:extLst>
          </p:cNvPr>
          <p:cNvSpPr>
            <a:spLocks noGrp="1"/>
          </p:cNvSpPr>
          <p:nvPr/>
        </p:nvSpPr>
        <p:spPr>
          <a:xfrm>
            <a:off x="2857500" y="47815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80" b="0">
                <a:solidFill>
                  <a:srgbClr val="111111"/>
                </a:solidFill>
                <a:latin typeface="Noto Sans CJK SC"/>
              </a:rPr>
              <a:t>默认参数为 1,000,000 次调用、5 轮重复，脚本输出 mean/min/max/stdev。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1795879-444F-4715-86F3-36AA4B6438B3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32385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5C49ED-95D2-48E8-845D-CCDFCAE0F1D7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1981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overhead_per_call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7976F8-E48B-4CBC-9E05-CF92C95FFB94}"/>
              </a:ext>
            </a:extLst>
          </p:cNvPr>
          <p:cNvSpPr>
            <a:spLocks noGrp="1"/>
          </p:cNvSpPr>
          <p:nvPr/>
        </p:nvSpPr>
        <p:spPr>
          <a:xfrm>
            <a:off x="2857500" y="518160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(ztrace_total_ns - baseline_total_ns) / iterations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0E386C-EFF8-4A7F-88D8-29C5D5E55A5D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820400" cy="32385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3A5B40-FD4A-499C-8D42-0C7DF3E39D96}"/>
              </a:ext>
            </a:extLst>
          </p:cNvPr>
          <p:cNvSpPr>
            <a:spLocks noGrp="1"/>
          </p:cNvSpPr>
          <p:nvPr/>
        </p:nvSpPr>
        <p:spPr>
          <a:xfrm>
            <a:off x="800100" y="5581650"/>
            <a:ext cx="1981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install_latency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46F9893-5041-4718-91C6-D855AD5C153E}"/>
              </a:ext>
            </a:extLst>
          </p:cNvPr>
          <p:cNvSpPr>
            <a:spLocks noGrp="1"/>
          </p:cNvSpPr>
          <p:nvPr/>
        </p:nvSpPr>
        <p:spPr>
          <a:xfrm>
            <a:off x="2857500" y="55816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1000 轮 install_ns 平均值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35F290-22BC-438A-9BEA-9C3CA95D4B1E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459AEC-1ECA-429E-8D8F-DC03915BCC5E}"/>
              </a:ext>
            </a:extLst>
          </p:cNvPr>
          <p:cNvSpPr>
            <a:spLocks noGrp="1"/>
          </p:cNvSpPr>
          <p:nvPr/>
        </p:nvSpPr>
        <p:spPr>
          <a:xfrm>
            <a:off x="800100" y="5981700"/>
            <a:ext cx="1981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uninstall_latency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2D81782-ED96-4A7D-A3E8-BF2C2A5E9A9D}"/>
              </a:ext>
            </a:extLst>
          </p:cNvPr>
          <p:cNvSpPr>
            <a:spLocks noGrp="1"/>
          </p:cNvSpPr>
          <p:nvPr/>
        </p:nvSpPr>
        <p:spPr>
          <a:xfrm>
            <a:off x="2857500" y="598170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1000 轮 uninstall_ns 平均值</a:t>
            </a:r>
          </a:p>
        </p:txBody>
      </p:sp>
    </p:spTree>
    <p:extLst>
      <p:ext uri="{BB962C8B-B14F-4D97-AF65-F5344CB8AC3E}">
        <p14:creationId xmlns:p14="http://schemas.microsoft.com/office/powerpoint/2010/main" val="249058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Microsoft YaHei"/>
              </a:rPr>
              <a:t>性能结果：zeroTrace 命中路径低开销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987552"/>
            <a:ext cx="1081735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72768"/>
            <a:ext cx="6172200" cy="30466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572768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>
                <a:solidFill>
                  <a:srgbClr val="111827"/>
                </a:solidFill>
                <a:latin typeface="Microsoft YaHei"/>
              </a:rPr>
              <a:t>174.45 ns/call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56816"/>
            <a:ext cx="3154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4B5563"/>
                </a:solidFill>
                <a:latin typeface="Microsoft YaHei"/>
              </a:rPr>
              <a:t>zeroTrace 单次命中额外开销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60920" y="2395728"/>
            <a:ext cx="3657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60920" y="26517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>
                <a:solidFill>
                  <a:srgbClr val="111827"/>
                </a:solidFill>
                <a:latin typeface="Microsoft YaHei"/>
              </a:rPr>
              <a:t>11.08x lower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035808"/>
            <a:ext cx="3154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4B5563"/>
                </a:solidFill>
                <a:latin typeface="Microsoft YaHei"/>
              </a:rPr>
              <a:t>相对 kernel uprobe 的开销下降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60920" y="3474720"/>
            <a:ext cx="3657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60920" y="3730752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>
                <a:solidFill>
                  <a:srgbClr val="111827"/>
                </a:solidFill>
                <a:latin typeface="Microsoft YaHei"/>
              </a:rPr>
              <a:t>0.371 / 0.084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114800"/>
            <a:ext cx="3154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>
                <a:solidFill>
                  <a:srgbClr val="4B5563"/>
                </a:solidFill>
                <a:latin typeface="Microsoft YaHei"/>
              </a:rPr>
              <a:t>install / uninstall，1000 轮平均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5788152"/>
            <a:ext cx="1081735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084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FEFE01E-1787-4814-B69D-1F505C479D7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生命周期延迟：安装和卸载均低于 1 ms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3409BF-8960-44F6-80D8-FCF4DD3CD53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9C7C4A3-0FA5-417C-8E59-8719725C70D6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2400300" cy="1257300"/>
          </a:xfrm>
          <a:prstGeom prst="roundRect">
            <a:avLst>
              <a:gd name="adj" fmla="val 606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C32C76-7ECA-46FB-AC7C-E1E26338651F}"/>
              </a:ext>
            </a:extLst>
          </p:cNvPr>
          <p:cNvSpPr>
            <a:spLocks noGrp="1"/>
          </p:cNvSpPr>
          <p:nvPr/>
        </p:nvSpPr>
        <p:spPr>
          <a:xfrm>
            <a:off x="838200" y="1390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install latency avg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8057D6-52E5-4AD8-B2CB-62BA909E05F7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370,539 ns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319E71-BB21-484F-A3D4-DBB784F07472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约 0.371 ms，1000 轮平均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1086644-4158-4CA2-B837-A81A02174883}"/>
              </a:ext>
            </a:extLst>
          </p:cNvPr>
          <p:cNvSpPr>
            <a:spLocks noGrp="1"/>
          </p:cNvSpPr>
          <p:nvPr/>
        </p:nvSpPr>
        <p:spPr>
          <a:xfrm>
            <a:off x="3390900" y="1257300"/>
            <a:ext cx="2400300" cy="1257300"/>
          </a:xfrm>
          <a:prstGeom prst="roundRect">
            <a:avLst>
              <a:gd name="adj" fmla="val 606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57D31C-7F8D-4371-ABAC-8B2918D9C032}"/>
              </a:ext>
            </a:extLst>
          </p:cNvPr>
          <p:cNvSpPr>
            <a:spLocks noGrp="1"/>
          </p:cNvSpPr>
          <p:nvPr/>
        </p:nvSpPr>
        <p:spPr>
          <a:xfrm>
            <a:off x="3543300" y="1390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uninstall latency avg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5E9269-4D9F-4CF1-93ED-9B7A51B32995}"/>
              </a:ext>
            </a:extLst>
          </p:cNvPr>
          <p:cNvSpPr>
            <a:spLocks noGrp="1"/>
          </p:cNvSpPr>
          <p:nvPr/>
        </p:nvSpPr>
        <p:spPr>
          <a:xfrm>
            <a:off x="3543300" y="16573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83,892 ns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B06085-7648-4624-9082-08BBBC0D983A}"/>
              </a:ext>
            </a:extLst>
          </p:cNvPr>
          <p:cNvSpPr>
            <a:spLocks noGrp="1"/>
          </p:cNvSpPr>
          <p:nvPr/>
        </p:nvSpPr>
        <p:spPr>
          <a:xfrm>
            <a:off x="3543300" y="20764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约 0.084 ms，1000 轮平均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41B8D4B-D363-452D-867E-CB0BDBFE5357}"/>
              </a:ext>
            </a:extLst>
          </p:cNvPr>
          <p:cNvSpPr>
            <a:spLocks noGrp="1"/>
          </p:cNvSpPr>
          <p:nvPr/>
        </p:nvSpPr>
        <p:spPr>
          <a:xfrm>
            <a:off x="6096000" y="1257300"/>
            <a:ext cx="2400300" cy="1257300"/>
          </a:xfrm>
          <a:prstGeom prst="roundRect">
            <a:avLst>
              <a:gd name="adj" fmla="val 606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FE9AC5-767F-446C-AF94-D0E2228F6F28}"/>
              </a:ext>
            </a:extLst>
          </p:cNvPr>
          <p:cNvSpPr>
            <a:spLocks noGrp="1"/>
          </p:cNvSpPr>
          <p:nvPr/>
        </p:nvSpPr>
        <p:spPr>
          <a:xfrm>
            <a:off x="6248400" y="1390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install / 10 ms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FD6462-FDA4-4CC5-BCE6-6072CD502B5F}"/>
              </a:ext>
            </a:extLst>
          </p:cNvPr>
          <p:cNvSpPr>
            <a:spLocks noGrp="1"/>
          </p:cNvSpPr>
          <p:nvPr/>
        </p:nvSpPr>
        <p:spPr>
          <a:xfrm>
            <a:off x="6248400" y="16573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3.71%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4AEF8C-AC84-4B6F-889D-158CBF453BAB}"/>
              </a:ext>
            </a:extLst>
          </p:cNvPr>
          <p:cNvSpPr>
            <a:spLocks noGrp="1"/>
          </p:cNvSpPr>
          <p:nvPr/>
        </p:nvSpPr>
        <p:spPr>
          <a:xfrm>
            <a:off x="6248400" y="20764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距离赛题 10 ms 指标仍有余量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B3772A1-7C99-4D6E-AEA3-8979893AA326}"/>
              </a:ext>
            </a:extLst>
          </p:cNvPr>
          <p:cNvSpPr>
            <a:spLocks noGrp="1"/>
          </p:cNvSpPr>
          <p:nvPr/>
        </p:nvSpPr>
        <p:spPr>
          <a:xfrm>
            <a:off x="8801100" y="1257300"/>
            <a:ext cx="2400300" cy="1257300"/>
          </a:xfrm>
          <a:prstGeom prst="roundRect">
            <a:avLst>
              <a:gd name="adj" fmla="val 606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C5692-1DE3-4C87-93B0-410D025C22FF}"/>
              </a:ext>
            </a:extLst>
          </p:cNvPr>
          <p:cNvSpPr>
            <a:spLocks noGrp="1"/>
          </p:cNvSpPr>
          <p:nvPr/>
        </p:nvSpPr>
        <p:spPr>
          <a:xfrm>
            <a:off x="8953500" y="1390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uninstall / 10 ms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3A75EE8-47E0-4C61-B200-EFA764DF044D}"/>
              </a:ext>
            </a:extLst>
          </p:cNvPr>
          <p:cNvSpPr>
            <a:spLocks noGrp="1"/>
          </p:cNvSpPr>
          <p:nvPr/>
        </p:nvSpPr>
        <p:spPr>
          <a:xfrm>
            <a:off x="8953500" y="16573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0.84%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CC94C3-2955-47BE-8451-B5239F39F566}"/>
              </a:ext>
            </a:extLst>
          </p:cNvPr>
          <p:cNvSpPr>
            <a:spLocks noGrp="1"/>
          </p:cNvSpPr>
          <p:nvPr/>
        </p:nvSpPr>
        <p:spPr>
          <a:xfrm>
            <a:off x="8953500" y="20764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13" b="0">
                <a:solidFill>
                  <a:srgbClr val="111111"/>
                </a:solidFill>
                <a:latin typeface="Noto Sans CJK SC"/>
              </a:rPr>
              <a:t>删除最后一个 probe 后，再检查进程 maps 和入口字节是否恢复。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1B8425-1B68-4F43-AD90-7D2B13B742A5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清理与退出窗口验证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1F7C6FC-3D3E-458A-9025-83FE80FBCAB8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4953000" cy="971550"/>
          </a:xfrm>
          <a:prstGeom prst="roundRect">
            <a:avLst>
              <a:gd name="adj" fmla="val 784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4E4B435-A2B1-4CA1-B36D-19101E1D262B}"/>
              </a:ext>
            </a:extLst>
          </p:cNvPr>
          <p:cNvSpPr>
            <a:spLocks noGrp="1"/>
          </p:cNvSpPr>
          <p:nvPr/>
        </p:nvSpPr>
        <p:spPr>
          <a:xfrm>
            <a:off x="857250" y="35623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probe lifecycle cleanup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67A1A5-6F33-40EB-BA49-EFFB45CB236A}"/>
              </a:ext>
            </a:extLst>
          </p:cNvPr>
          <p:cNvSpPr>
            <a:spLocks noGrp="1"/>
          </p:cNvSpPr>
          <p:nvPr/>
        </p:nvSpPr>
        <p:spPr>
          <a:xfrm>
            <a:off x="857250" y="3867150"/>
            <a:ext cx="4610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05" b="0">
                <a:solidFill>
                  <a:srgbClr val="111111"/>
                </a:solidFill>
                <a:latin typeface="Noto Sans CJK SC"/>
              </a:rPr>
              <a:t>probe lifecycle 的 cleanup 子测试会在目标仍存活时记录 trampoline 地址、入口原始字节和 runtime mmap 区域；删除最后一个 probe 后，再检查进程 maps 和入口字节是否恢复。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C09CE41-CC67-4B64-A1D0-8BBFBF908425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4953000" cy="971550"/>
          </a:xfrm>
          <a:prstGeom prst="roundRect">
            <a:avLst>
              <a:gd name="adj" fmla="val 784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BA2726-C88F-4DA5-9A09-237B83CF30E9}"/>
              </a:ext>
            </a:extLst>
          </p:cNvPr>
          <p:cNvSpPr>
            <a:spLocks noGrp="1"/>
          </p:cNvSpPr>
          <p:nvPr/>
        </p:nvSpPr>
        <p:spPr>
          <a:xfrm>
            <a:off x="6267450" y="35623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poll exit race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17F190C-7067-4F45-8548-33FD8797399C}"/>
              </a:ext>
            </a:extLst>
          </p:cNvPr>
          <p:cNvSpPr>
            <a:spLocks noGrp="1"/>
          </p:cNvSpPr>
          <p:nvPr/>
        </p:nvSpPr>
        <p:spPr>
          <a:xfrm>
            <a:off x="6267450" y="3867150"/>
            <a:ext cx="4610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05" b="0">
                <a:solidFill>
                  <a:srgbClr val="111111"/>
                </a:solidFill>
                <a:latin typeface="Noto Sans CJK SC"/>
              </a:rPr>
              <a:t>目标退出窗口测试覆盖短生命周期进程退出、远程读取失败和 trace buffer 映射消失之间的竞态，已记录 1000 轮压力通过。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69F17A2-9C70-4C79-8734-B67681EBBFF5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4953000" cy="971550"/>
          </a:xfrm>
          <a:prstGeom prst="roundRect">
            <a:avLst>
              <a:gd name="adj" fmla="val 784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C6C02CC-0FCB-4F6A-8D9B-476067B4E91F}"/>
              </a:ext>
            </a:extLst>
          </p:cNvPr>
          <p:cNvSpPr>
            <a:spLocks noGrp="1"/>
          </p:cNvSpPr>
          <p:nvPr/>
        </p:nvSpPr>
        <p:spPr>
          <a:xfrm>
            <a:off x="857250" y="48196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trace buffer reader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29613DB-C891-471F-B005-121C55ED6C04}"/>
              </a:ext>
            </a:extLst>
          </p:cNvPr>
          <p:cNvSpPr>
            <a:spLocks noGrp="1"/>
          </p:cNvSpPr>
          <p:nvPr/>
        </p:nvSpPr>
        <p:spPr>
          <a:xfrm>
            <a:off x="857250" y="5124450"/>
            <a:ext cx="4610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05" b="0">
                <a:solidFill>
                  <a:srgbClr val="111111"/>
                </a:solidFill>
                <a:latin typeface="Noto Sans CJK SC"/>
              </a:rPr>
              <a:t>trace buffer reader 测试会故意延迟首次 poll，让事件数量超过 ring buffer 容量，要求日志显式出现 ztrace:lost，把被覆盖事件的范围写出来。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D08D0A9-686C-4195-A3C7-4C120507FFA6}"/>
              </a:ext>
            </a:extLst>
          </p:cNvPr>
          <p:cNvSpPr>
            <a:spLocks noGrp="1"/>
          </p:cNvSpPr>
          <p:nvPr/>
        </p:nvSpPr>
        <p:spPr>
          <a:xfrm>
            <a:off x="6096000" y="4686300"/>
            <a:ext cx="4953000" cy="971550"/>
          </a:xfrm>
          <a:prstGeom prst="roundRect">
            <a:avLst>
              <a:gd name="adj" fmla="val 7843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5C4223-E54E-4EB3-8180-F8AA076C6503}"/>
              </a:ext>
            </a:extLst>
          </p:cNvPr>
          <p:cNvSpPr>
            <a:spLocks noGrp="1"/>
          </p:cNvSpPr>
          <p:nvPr/>
        </p:nvSpPr>
        <p:spPr>
          <a:xfrm>
            <a:off x="6267450" y="48196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slot 复用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EAF0C8F-91A7-4A55-97E2-8E90CC459D2A}"/>
              </a:ext>
            </a:extLst>
          </p:cNvPr>
          <p:cNvSpPr>
            <a:spLocks noGrp="1"/>
          </p:cNvSpPr>
          <p:nvPr/>
        </p:nvSpPr>
        <p:spPr>
          <a:xfrm>
            <a:off x="6267450" y="5124450"/>
            <a:ext cx="4610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05" b="0">
                <a:solidFill>
                  <a:srgbClr val="111111"/>
                </a:solidFill>
                <a:latin typeface="Noto Sans CJK SC"/>
              </a:rPr>
              <a:t>trampoline slot 释放后进入空闲表，pool 全空时远程 munmap。测试覆盖 slot 分配、复用与清理恢复。</a:t>
            </a:r>
          </a:p>
        </p:txBody>
      </p:sp>
    </p:spTree>
    <p:extLst>
      <p:ext uri="{BB962C8B-B14F-4D97-AF65-F5344CB8AC3E}">
        <p14:creationId xmlns:p14="http://schemas.microsoft.com/office/powerpoint/2010/main" val="227141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BFACD17-4169-4A31-B618-CDE66ACEA80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压力结果：多线程、线程组与热更新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10B068-6DFD-4F33-928F-E8D0A5B7E8D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753A2D-229C-49CE-AE67-2C443C9F981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1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endParaRPr sz="1215" b="0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DB5BC4A-16B0-47DA-85F5-7B2F7425CF32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5334000" cy="3524250"/>
          </a:xfrm>
          <a:prstGeom prst="roundRect">
            <a:avLst>
              <a:gd name="adj" fmla="val 2162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02D749-D5E4-4CF6-8F67-AEF80F3FE886}"/>
              </a:ext>
            </a:extLst>
          </p:cNvPr>
          <p:cNvSpPr>
            <a:spLocks noGrp="1"/>
          </p:cNvSpPr>
          <p:nvPr/>
        </p:nvSpPr>
        <p:spPr>
          <a:xfrm>
            <a:off x="857250" y="1924050"/>
            <a:ext cx="4991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多线程与线程组控制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E9AD02-6086-4278-979D-88B1D2EEFA00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991100" cy="299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thread_safety: 10/10 passed</a:t>
            </a: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tids=12 tracked=13 toggles=12 in every round</a:t>
            </a: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thread_stable strict pairs: 2338..2400 per round</a:t>
            </a: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thread_pair strict pairs: 471..480 per round</a:t>
            </a: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thread_mix high-frequency: &gt;=21039 entry/return events per side</a:t>
            </a: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thread_group_control: 10/10 passed</a:t>
            </a: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rounds=80 resume_rounds=80 in every round</a:t>
            </a: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task_max/tracked_max range: 31..32, matched in every round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448195F-E4FA-42C6-8E07-B696B6DA8A08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5143500" cy="2381250"/>
          </a:xfrm>
          <a:prstGeom prst="roundRect">
            <a:avLst>
              <a:gd name="adj" fmla="val 3200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374BFF-56BB-4EC3-BC48-85DA7D2E0015}"/>
              </a:ext>
            </a:extLst>
          </p:cNvPr>
          <p:cNvSpPr>
            <a:spLocks noGrp="1"/>
          </p:cNvSpPr>
          <p:nvPr/>
        </p:nvSpPr>
        <p:spPr>
          <a:xfrm>
            <a:off x="6534150" y="1924050"/>
            <a:ext cx="480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热更新与 call action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33AA3B-2103-47F8-9B34-8E803AE8048C}"/>
              </a:ext>
            </a:extLst>
          </p:cNvPr>
          <p:cNvSpPr>
            <a:spLocks noGrp="1"/>
          </p:cNvSpPr>
          <p:nvPr/>
        </p:nvSpPr>
        <p:spPr>
          <a:xfrm>
            <a:off x="6534150" y="2228850"/>
            <a:ext cx="48006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test_probe_hot_update: 100/100 passed</a:t>
            </a: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last live call action round:</a:t>
            </a: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hot_call_a=170, hot_call_b=45</a:t>
            </a:r>
          </a:p>
          <a:p>
            <a:endParaRPr sz="990" b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覆盖 filter A/B/final、disable 阶段零泄漏、call action A/B 切换和 live call action 更新。</a:t>
            </a:r>
          </a:p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带参 call action 会把 entry 参数和常量一起传给目标进程内 callee，并检查不同参数下返回值。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2E8EF90-50D4-44CD-BCA4-A622B6529761}"/>
              </a:ext>
            </a:extLst>
          </p:cNvPr>
          <p:cNvSpPr>
            <a:spLocks noGrp="1"/>
          </p:cNvSpPr>
          <p:nvPr/>
        </p:nvSpPr>
        <p:spPr>
          <a:xfrm>
            <a:off x="6362700" y="4476750"/>
            <a:ext cx="5143500" cy="838200"/>
          </a:xfrm>
          <a:prstGeom prst="roundRect">
            <a:avLst>
              <a:gd name="adj" fmla="val 909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3E7C07-4A2A-4652-BF6B-B4C24B9EBFE1}"/>
              </a:ext>
            </a:extLst>
          </p:cNvPr>
          <p:cNvSpPr>
            <a:spLocks noGrp="1"/>
          </p:cNvSpPr>
          <p:nvPr/>
        </p:nvSpPr>
        <p:spPr>
          <a:xfrm>
            <a:off x="6534150" y="4610100"/>
            <a:ext cx="480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slot 碰撞子测试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68CEB5-11C4-4ED1-B762-DE860310EC73}"/>
              </a:ext>
            </a:extLst>
          </p:cNvPr>
          <p:cNvSpPr>
            <a:spLocks noGrp="1"/>
          </p:cNvSpPr>
          <p:nvPr/>
        </p:nvSpPr>
        <p:spPr>
          <a:xfrm>
            <a:off x="6534150" y="4914900"/>
            <a:ext cx="4800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保留一个旧 probe，同时反复 trace/untrace 推进新 probe id，覆盖两个 probe 映射到同一 action 槽位的场景；要求两者的 call action 同时保持正确。</a:t>
            </a:r>
          </a:p>
        </p:txBody>
      </p:sp>
    </p:spTree>
    <p:extLst>
      <p:ext uri="{BB962C8B-B14F-4D97-AF65-F5344CB8AC3E}">
        <p14:creationId xmlns:p14="http://schemas.microsoft.com/office/powerpoint/2010/main" val="1324588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18A158F-549A-4AF3-90F4-3950A8F4C56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实验补充：日志合流、平台边界与后续记录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B772E4-60B4-4F8D-B3DB-A42B14EC3BA5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9AFC19-5410-49D7-8EEF-21CC8D120C47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1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endParaRPr sz="1215" b="0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BBDF046-DFB8-432C-B549-3F30579D27B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953000" cy="838200"/>
          </a:xfrm>
          <a:prstGeom prst="roundRect">
            <a:avLst>
              <a:gd name="adj" fmla="val 909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505776-C0DC-4421-BF85-FFF4C586A9FA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perf/ftrace 风格合流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4454C9-C9FC-4FC2-8A59-46EE2B7DF4A0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4610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005" b="0">
                <a:solidFill>
                  <a:srgbClr val="111111"/>
                </a:solidFill>
                <a:latin typeface="Noto Sans CJK SC"/>
              </a:rPr>
              <a:t>scripts/merge_trace_events.py 能把 zeroTrace、perf script 和 ftrace 风格事件按时间排序；self-test 已通过。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FF76FE-A066-47BD-AEF8-FE60D00218E6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4953000" cy="838200"/>
          </a:xfrm>
          <a:prstGeom prst="roundRect">
            <a:avLst>
              <a:gd name="adj" fmla="val 909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CC4706-280C-4158-BCC8-CA8E4E2F3788}"/>
              </a:ext>
            </a:extLst>
          </p:cNvPr>
          <p:cNvSpPr>
            <a:spLocks noGrp="1"/>
          </p:cNvSpPr>
          <p:nvPr/>
        </p:nvSpPr>
        <p:spPr>
          <a:xfrm>
            <a:off x="6267450" y="194310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scan-build 静态分析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C74E6B-0D7E-4F4F-965F-CB3D134ACCF1}"/>
              </a:ext>
            </a:extLst>
          </p:cNvPr>
          <p:cNvSpPr>
            <a:spLocks noGrp="1"/>
          </p:cNvSpPr>
          <p:nvPr/>
        </p:nvSpPr>
        <p:spPr>
          <a:xfrm>
            <a:off x="6267450" y="2247900"/>
            <a:ext cx="4610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scan-build --status-bugs make clean all 已记录 No bugs found。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ECB13BD-DE52-4900-8350-114154D8B6E9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4953000" cy="838200"/>
          </a:xfrm>
          <a:prstGeom prst="roundRect">
            <a:avLst>
              <a:gd name="adj" fmla="val 909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D3DE2E-AD8F-4A20-BD1D-C02ED31E8223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aarch64 后端检查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870B06-7FC7-4655-9300-A01A65A20C52}"/>
              </a:ext>
            </a:extLst>
          </p:cNvPr>
          <p:cNvSpPr>
            <a:spLocks noGrp="1"/>
          </p:cNvSpPr>
          <p:nvPr/>
        </p:nvSpPr>
        <p:spPr>
          <a:xfrm>
            <a:off x="857250" y="3390900"/>
            <a:ext cx="461010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900" b="0">
                <a:solidFill>
                  <a:srgbClr val="111111"/>
                </a:solidFill>
                <a:latin typeface="Noto Sans CJK SC"/>
              </a:rPr>
              <a:t>aarch64 后端已有构建选择检查和后端代码；ISA 相关 patch、远程执行、trampoline builder 和 stub 分别落在 src/isa/x86_64 与 src/isa/aarch64。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549EA1C-B1F2-4799-987F-C0720F04E8C6}"/>
              </a:ext>
            </a:extLst>
          </p:cNvPr>
          <p:cNvSpPr>
            <a:spLocks noGrp="1"/>
          </p:cNvSpPr>
          <p:nvPr/>
        </p:nvSpPr>
        <p:spPr>
          <a:xfrm>
            <a:off x="6096000" y="2952750"/>
            <a:ext cx="4953000" cy="838200"/>
          </a:xfrm>
          <a:prstGeom prst="roundRect">
            <a:avLst>
              <a:gd name="adj" fmla="val 909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0E406B-88AE-4E9E-95D8-6E4C1A85BD1A}"/>
              </a:ext>
            </a:extLst>
          </p:cNvPr>
          <p:cNvSpPr>
            <a:spLocks noGrp="1"/>
          </p:cNvSpPr>
          <p:nvPr/>
        </p:nvSpPr>
        <p:spPr>
          <a:xfrm>
            <a:off x="6267450" y="308610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目标退出窗口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D61F8E-8996-4B84-8D9E-3B312BC7A697}"/>
              </a:ext>
            </a:extLst>
          </p:cNvPr>
          <p:cNvSpPr>
            <a:spLocks noGrp="1"/>
          </p:cNvSpPr>
          <p:nvPr/>
        </p:nvSpPr>
        <p:spPr>
          <a:xfrm>
            <a:off x="6267450" y="3390900"/>
            <a:ext cx="4610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短进程退出压力 1000 轮通过；trace buffer 映射消失时 poll 正常收尾。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99E5F6-FD94-43D9-87FF-D0432499B7E9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后续可补充的运行记录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C68BAB-08E6-489D-822C-B13BA2C26BCD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10820400" cy="34290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F5B1CAD-B037-45CB-BF23-92F5DA4FBF94}"/>
              </a:ext>
            </a:extLst>
          </p:cNvPr>
          <p:cNvSpPr>
            <a:spLocks noGrp="1"/>
          </p:cNvSpPr>
          <p:nvPr/>
        </p:nvSpPr>
        <p:spPr>
          <a:xfrm>
            <a:off x="800100" y="4819650"/>
            <a:ext cx="1752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aarch64 完整回归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05566F-B06F-4354-B50E-F372E190C375}"/>
              </a:ext>
            </a:extLst>
          </p:cNvPr>
          <p:cNvSpPr>
            <a:spLocks noGrp="1"/>
          </p:cNvSpPr>
          <p:nvPr/>
        </p:nvSpPr>
        <p:spPr>
          <a:xfrm>
            <a:off x="2628900" y="4819650"/>
            <a:ext cx="3067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make ARCH=aarch64 test / benchmark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C406C11-C953-47F0-ABAD-48916CB1D11A}"/>
              </a:ext>
            </a:extLst>
          </p:cNvPr>
          <p:cNvSpPr>
            <a:spLocks noGrp="1"/>
          </p:cNvSpPr>
          <p:nvPr/>
        </p:nvSpPr>
        <p:spPr>
          <a:xfrm>
            <a:off x="5791200" y="4819650"/>
            <a:ext cx="558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A1 已有代码和配置检查，仍需 ARM 机器真实运行记录。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7EA95E-6111-4536-96D2-D0B69C3B249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820400" cy="34290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4BF16E-C003-4921-8DF4-14545C182305}"/>
              </a:ext>
            </a:extLst>
          </p:cNvPr>
          <p:cNvSpPr>
            <a:spLocks noGrp="1"/>
          </p:cNvSpPr>
          <p:nvPr/>
        </p:nvSpPr>
        <p:spPr>
          <a:xfrm>
            <a:off x="800100" y="5238750"/>
            <a:ext cx="1752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真实 perf/ftrace 合流样例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2C8323-38F5-406D-874F-806CF8A24757}"/>
              </a:ext>
            </a:extLst>
          </p:cNvPr>
          <p:cNvSpPr>
            <a:spLocks noGrp="1"/>
          </p:cNvSpPr>
          <p:nvPr/>
        </p:nvSpPr>
        <p:spPr>
          <a:xfrm>
            <a:off x="2628900" y="5238750"/>
            <a:ext cx="3067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采集 perf script 或 ftrace sched_switch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BE9F4F-E56E-4657-81EC-226E68C35276}"/>
              </a:ext>
            </a:extLst>
          </p:cNvPr>
          <p:cNvSpPr>
            <a:spLocks noGrp="1"/>
          </p:cNvSpPr>
          <p:nvPr/>
        </p:nvSpPr>
        <p:spPr>
          <a:xfrm>
            <a:off x="5791200" y="5238750"/>
            <a:ext cx="558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验证跨工具时间线分析场景。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6986C0-80C8-46AF-B405-E7B8082AB1F3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10820400" cy="34290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2F4F10-37FC-45DC-9584-98FC2AFF0104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752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长时间多线程 soak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90D319-5781-41F7-B744-A53CEC3FDE4E}"/>
              </a:ext>
            </a:extLst>
          </p:cNvPr>
          <p:cNvSpPr>
            <a:spLocks noGrp="1"/>
          </p:cNvSpPr>
          <p:nvPr/>
        </p:nvSpPr>
        <p:spPr>
          <a:xfrm>
            <a:off x="2628900" y="5657850"/>
            <a:ext cx="3067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100 轮或 10 分钟运行日志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E35B81B-7ED6-4E3D-8016-D5DECC568995}"/>
              </a:ext>
            </a:extLst>
          </p:cNvPr>
          <p:cNvSpPr>
            <a:spLocks noGrp="1"/>
          </p:cNvSpPr>
          <p:nvPr/>
        </p:nvSpPr>
        <p:spPr>
          <a:xfrm>
            <a:off x="5791200" y="5657850"/>
            <a:ext cx="558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观察偶发死锁和资源泄漏。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CE561C6-1565-46A1-8AF9-D5BA4FD1B0FF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342900"/>
          </a:xfrm>
          <a:prstGeom prst="rect">
            <a:avLst/>
          </a:prstGeom>
          <a:noFill/>
          <a:ln w="952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A7FA27-6ECE-41E8-BACC-F66E87021B18}"/>
              </a:ext>
            </a:extLst>
          </p:cNvPr>
          <p:cNvSpPr>
            <a:spLocks noGrp="1"/>
          </p:cNvSpPr>
          <p:nvPr/>
        </p:nvSpPr>
        <p:spPr>
          <a:xfrm>
            <a:off x="800100" y="6076950"/>
            <a:ext cx="1752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内存泄漏工具验证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B180DA-0B1F-4768-A44F-4B421510212A}"/>
              </a:ext>
            </a:extLst>
          </p:cNvPr>
          <p:cNvSpPr>
            <a:spLocks noGrp="1"/>
          </p:cNvSpPr>
          <p:nvPr/>
        </p:nvSpPr>
        <p:spPr>
          <a:xfrm>
            <a:off x="2628900" y="6076950"/>
            <a:ext cx="3067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valgrind 或 sanitizers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6EB2141-A695-4E49-B383-41D0412D1A75}"/>
              </a:ext>
            </a:extLst>
          </p:cNvPr>
          <p:cNvSpPr>
            <a:spLocks noGrp="1"/>
          </p:cNvSpPr>
          <p:nvPr/>
        </p:nvSpPr>
        <p:spPr>
          <a:xfrm>
            <a:off x="5791200" y="6076950"/>
            <a:ext cx="558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补充 tracer 进程本地资源验证。</a:t>
            </a:r>
          </a:p>
        </p:txBody>
      </p:sp>
    </p:spTree>
    <p:extLst>
      <p:ext uri="{BB962C8B-B14F-4D97-AF65-F5344CB8AC3E}">
        <p14:creationId xmlns:p14="http://schemas.microsoft.com/office/powerpoint/2010/main" val="1943069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B7CCAFC7-E374-4F80-B65B-3CE2F59BB49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项目进度与分工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128055-1BFC-4F64-8884-1F0F4C70569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145DDC1-7D20-4D26-BA8B-F8C9E8FBD10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3219450" cy="1581150"/>
          </a:xfrm>
          <a:prstGeom prst="roundRect">
            <a:avLst>
              <a:gd name="adj" fmla="val 4819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EB8CDE-8F4E-4DE5-963F-E1811F6C474D}"/>
              </a:ext>
            </a:extLst>
          </p:cNvPr>
          <p:cNvSpPr>
            <a:spLocks noGrp="1"/>
          </p:cNvSpPr>
          <p:nvPr/>
        </p:nvSpPr>
        <p:spPr>
          <a:xfrm>
            <a:off x="819150" y="13525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舒钰尧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211D28-F11E-4358-B08D-D8E268FECB1C}"/>
              </a:ext>
            </a:extLst>
          </p:cNvPr>
          <p:cNvSpPr>
            <a:spLocks noGrp="1"/>
          </p:cNvSpPr>
          <p:nvPr/>
        </p:nvSpPr>
        <p:spPr>
          <a:xfrm>
            <a:off x="819150" y="1600200"/>
            <a:ext cx="2952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100" b="0">
                <a:solidFill>
                  <a:srgbClr val="111111"/>
                </a:solidFill>
                <a:latin typeface="Noto Sans CJK SC"/>
              </a:rPr>
              <a:t>主要负责 trace runner 与探针生命周期管理，</a:t>
            </a:r>
          </a:p>
          <a:p>
            <a:r>
              <a:rPr sz="1100" b="0">
                <a:solidFill>
                  <a:srgbClr val="111111"/>
                </a:solidFill>
                <a:latin typeface="Noto Sans CJK SC"/>
              </a:rPr>
              <a:t>完成 attach、trace、untrace、enable、disable、update 等上层流程串联；</a:t>
            </a:r>
          </a:p>
          <a:p>
            <a:r>
              <a:rPr sz="1100" b="0">
                <a:solidFill>
                  <a:srgbClr val="111111"/>
                </a:solidFill>
                <a:latin typeface="Noto Sans CJK SC"/>
              </a:rPr>
              <a:t>参与 return probe 调用配对设计，整理 entry event、return event 与 call event 的状态关系；</a:t>
            </a:r>
          </a:p>
          <a:p>
            <a:r>
              <a:rPr sz="1100" b="0">
                <a:solidFill>
                  <a:srgbClr val="111111"/>
                </a:solidFill>
                <a:latin typeface="Noto Sans CJK SC"/>
              </a:rPr>
              <a:t>负责部分自动化测试用例编写与回归验证。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E4A81A0-E8F4-42FD-8BAF-48311F6CF930}"/>
              </a:ext>
            </a:extLst>
          </p:cNvPr>
          <p:cNvSpPr>
            <a:spLocks noGrp="1"/>
          </p:cNvSpPr>
          <p:nvPr/>
        </p:nvSpPr>
        <p:spPr>
          <a:xfrm>
            <a:off x="4324350" y="1257300"/>
            <a:ext cx="3219450" cy="1581150"/>
          </a:xfrm>
          <a:prstGeom prst="roundRect">
            <a:avLst>
              <a:gd name="adj" fmla="val 4819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DD6EC5-55DC-4E0B-AEE8-4F2724275605}"/>
              </a:ext>
            </a:extLst>
          </p:cNvPr>
          <p:cNvSpPr>
            <a:spLocks noGrp="1"/>
          </p:cNvSpPr>
          <p:nvPr/>
        </p:nvSpPr>
        <p:spPr>
          <a:xfrm>
            <a:off x="4457700" y="13525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曹佳一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E7BA45-DCEC-43DE-A869-756A8B18FB57}"/>
              </a:ext>
            </a:extLst>
          </p:cNvPr>
          <p:cNvSpPr>
            <a:spLocks noGrp="1"/>
          </p:cNvSpPr>
          <p:nvPr/>
        </p:nvSpPr>
        <p:spPr>
          <a:xfrm>
            <a:off x="4457700" y="1600200"/>
            <a:ext cx="2952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100" b="0">
                <a:solidFill>
                  <a:srgbClr val="111111"/>
                </a:solidFill>
                <a:latin typeface="Noto Sans CJK SC"/>
              </a:rPr>
              <a:t>主要负责 injector 与目标进程控制相关工作，</a:t>
            </a:r>
          </a:p>
          <a:p>
            <a:r>
              <a:rPr sz="1100" b="0">
                <a:solidFill>
                  <a:srgbClr val="111111"/>
                </a:solidFill>
                <a:latin typeface="Noto Sans CJK SC"/>
              </a:rPr>
              <a:t>包括 ptrace 线程组控制、远程内存读写、远程 mmap/munmap、payload 注入、入口 patch 与原始指令恢复；</a:t>
            </a:r>
          </a:p>
          <a:p>
            <a:r>
              <a:rPr sz="1100" b="0">
                <a:solidFill>
                  <a:srgbClr val="111111"/>
                </a:solidFill>
                <a:latin typeface="Noto Sans CJK SC"/>
              </a:rPr>
              <a:t>重点处理多线程目标进程中的线程枚举、停止、继续和 patch 安全窗口。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2AE53B6-F23F-4B46-A5C8-C5B8A1FB0348}"/>
              </a:ext>
            </a:extLst>
          </p:cNvPr>
          <p:cNvSpPr>
            <a:spLocks noGrp="1"/>
          </p:cNvSpPr>
          <p:nvPr/>
        </p:nvSpPr>
        <p:spPr>
          <a:xfrm>
            <a:off x="7962900" y="1257300"/>
            <a:ext cx="3219450" cy="1581150"/>
          </a:xfrm>
          <a:prstGeom prst="roundRect">
            <a:avLst>
              <a:gd name="adj" fmla="val 4819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CFD70F-9826-4E84-8181-8C2FC543825E}"/>
              </a:ext>
            </a:extLst>
          </p:cNvPr>
          <p:cNvSpPr>
            <a:spLocks noGrp="1"/>
          </p:cNvSpPr>
          <p:nvPr/>
        </p:nvSpPr>
        <p:spPr>
          <a:xfrm>
            <a:off x="8096250" y="13525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倪晨曦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6F4131-5762-4040-8EC9-74AC3B872540}"/>
              </a:ext>
            </a:extLst>
          </p:cNvPr>
          <p:cNvSpPr>
            <a:spLocks noGrp="1"/>
          </p:cNvSpPr>
          <p:nvPr/>
        </p:nvSpPr>
        <p:spPr>
          <a:xfrm>
            <a:off x="8096250" y="1600200"/>
            <a:ext cx="2952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100" b="0">
                <a:solidFill>
                  <a:srgbClr val="111111"/>
                </a:solidFill>
                <a:latin typeface="Noto Sans CJK SC"/>
              </a:rPr>
              <a:t>主要负责 trampoline、stub 与 ISA 后端实现，</a:t>
            </a:r>
          </a:p>
          <a:p>
            <a:r>
              <a:rPr sz="1100" b="0">
                <a:solidFill>
                  <a:srgbClr val="111111"/>
                </a:solidFill>
                <a:latin typeface="Noto Sans CJK SC"/>
              </a:rPr>
              <a:t>完成 x86_64/aarch64 入口跳转模板、前导指令保存与跳回逻辑；</a:t>
            </a:r>
          </a:p>
          <a:p>
            <a:r>
              <a:rPr sz="1100" b="0">
                <a:solidFill>
                  <a:srgbClr val="111111"/>
                </a:solidFill>
                <a:latin typeface="Noto Sans CJK SC"/>
              </a:rPr>
              <a:t>参与 payload 侧现场保存、参数/返回值捕获、条件探针和 call action 联调。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457D87-90BE-440B-B31C-EA3174F443ED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相应任务的推进与完成情况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12C375-0825-428E-8B57-281699A4F7C0}"/>
              </a:ext>
            </a:extLst>
          </p:cNvPr>
          <p:cNvSpPr>
            <a:spLocks noGrp="1"/>
          </p:cNvSpPr>
          <p:nvPr/>
        </p:nvSpPr>
        <p:spPr>
          <a:xfrm>
            <a:off x="933450" y="4800600"/>
            <a:ext cx="10401300" cy="2095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13094B0-8FCE-4FA7-915E-0A9D12DE1FF9}"/>
              </a:ext>
            </a:extLst>
          </p:cNvPr>
          <p:cNvSpPr>
            <a:spLocks noGrp="1"/>
          </p:cNvSpPr>
          <p:nvPr/>
        </p:nvSpPr>
        <p:spPr>
          <a:xfrm>
            <a:off x="962025" y="4733925"/>
            <a:ext cx="133350" cy="133350"/>
          </a:xfrm>
          <a:prstGeom prst="ellipse">
            <a:avLst/>
          </a:prstGeom>
          <a:noFill/>
          <a:ln w="1333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F00506-FCE9-4406-9434-A14FBC0DDC8F}"/>
              </a:ext>
            </a:extLst>
          </p:cNvPr>
          <p:cNvSpPr>
            <a:spLocks noGrp="1"/>
          </p:cNvSpPr>
          <p:nvPr/>
        </p:nvSpPr>
        <p:spPr>
          <a:xfrm>
            <a:off x="400050" y="45148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3.30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E0B4C1-B0D5-40B9-B5BC-F09223E0DCB5}"/>
              </a:ext>
            </a:extLst>
          </p:cNvPr>
          <p:cNvSpPr>
            <a:spLocks noGrp="1"/>
          </p:cNvSpPr>
          <p:nvPr/>
        </p:nvSpPr>
        <p:spPr>
          <a:xfrm>
            <a:off x="123825" y="4956048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完成选题与赛题需求拆解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AE40DB7-B495-42F7-93A2-7D7A1F620886}"/>
              </a:ext>
            </a:extLst>
          </p:cNvPr>
          <p:cNvSpPr>
            <a:spLocks noGrp="1"/>
          </p:cNvSpPr>
          <p:nvPr/>
        </p:nvSpPr>
        <p:spPr>
          <a:xfrm>
            <a:off x="2447925" y="4733925"/>
            <a:ext cx="133350" cy="133350"/>
          </a:xfrm>
          <a:prstGeom prst="ellipse">
            <a:avLst/>
          </a:prstGeom>
          <a:noFill/>
          <a:ln w="1333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02FF28-E204-4857-88CA-7773C1E43E36}"/>
              </a:ext>
            </a:extLst>
          </p:cNvPr>
          <p:cNvSpPr>
            <a:spLocks noGrp="1"/>
          </p:cNvSpPr>
          <p:nvPr/>
        </p:nvSpPr>
        <p:spPr>
          <a:xfrm>
            <a:off x="1885950" y="45148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4.12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DFFAE9-D3BF-4A01-9CFD-EEE66422FA63}"/>
              </a:ext>
            </a:extLst>
          </p:cNvPr>
          <p:cNvSpPr>
            <a:spLocks noGrp="1"/>
          </p:cNvSpPr>
          <p:nvPr/>
        </p:nvSpPr>
        <p:spPr>
          <a:xfrm>
            <a:off x="1619250" y="4353001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打通</a:t>
            </a:r>
            <a:r>
              <a:rPr sz="1102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attach </a:t>
            </a:r>
            <a:r>
              <a:rPr sz="1102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与入口</a:t>
            </a:r>
            <a:r>
              <a:rPr sz="1102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patch </a:t>
            </a:r>
            <a:r>
              <a:rPr sz="1102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原型</a:t>
            </a:r>
            <a:endParaRPr sz="1102" b="0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44DC208-9E67-4BEF-AAA6-CCE69614007F}"/>
              </a:ext>
            </a:extLst>
          </p:cNvPr>
          <p:cNvSpPr>
            <a:spLocks noGrp="1"/>
          </p:cNvSpPr>
          <p:nvPr/>
        </p:nvSpPr>
        <p:spPr>
          <a:xfrm>
            <a:off x="4276725" y="4733925"/>
            <a:ext cx="133350" cy="133350"/>
          </a:xfrm>
          <a:prstGeom prst="ellipse">
            <a:avLst/>
          </a:prstGeom>
          <a:noFill/>
          <a:ln w="1333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9818FD-E5FE-412D-A37B-41DA86BB9B3F}"/>
              </a:ext>
            </a:extLst>
          </p:cNvPr>
          <p:cNvSpPr>
            <a:spLocks noGrp="1"/>
          </p:cNvSpPr>
          <p:nvPr/>
        </p:nvSpPr>
        <p:spPr>
          <a:xfrm>
            <a:off x="3714750" y="45148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4.28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CE600C8-E818-45FE-AF42-BF64C7ED2234}"/>
              </a:ext>
            </a:extLst>
          </p:cNvPr>
          <p:cNvSpPr>
            <a:spLocks noGrp="1"/>
          </p:cNvSpPr>
          <p:nvPr/>
        </p:nvSpPr>
        <p:spPr>
          <a:xfrm>
            <a:off x="3343275" y="4956048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完成 trampoline、payload 与 trace buffer 初版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2D63DBA-AFB0-4957-8987-9EF97E28E5C9}"/>
              </a:ext>
            </a:extLst>
          </p:cNvPr>
          <p:cNvSpPr>
            <a:spLocks noGrp="1"/>
          </p:cNvSpPr>
          <p:nvPr/>
        </p:nvSpPr>
        <p:spPr>
          <a:xfrm>
            <a:off x="6543675" y="4733925"/>
            <a:ext cx="133350" cy="133350"/>
          </a:xfrm>
          <a:prstGeom prst="ellipse">
            <a:avLst/>
          </a:prstGeom>
          <a:noFill/>
          <a:ln w="1333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DE5939-7BAD-451E-A8B9-6EDB9B39DE41}"/>
              </a:ext>
            </a:extLst>
          </p:cNvPr>
          <p:cNvSpPr>
            <a:spLocks noGrp="1"/>
          </p:cNvSpPr>
          <p:nvPr/>
        </p:nvSpPr>
        <p:spPr>
          <a:xfrm>
            <a:off x="5981700" y="45148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5.18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A06F30-A1AD-4037-8D30-F00487146129}"/>
              </a:ext>
            </a:extLst>
          </p:cNvPr>
          <p:cNvSpPr>
            <a:spLocks noGrp="1"/>
          </p:cNvSpPr>
          <p:nvPr/>
        </p:nvSpPr>
        <p:spPr>
          <a:xfrm>
            <a:off x="5610225" y="419671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补齐</a:t>
            </a:r>
            <a:r>
              <a:rPr sz="1102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return </a:t>
            </a:r>
            <a:r>
              <a:rPr sz="1102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probe、多探针与资源清理</a:t>
            </a:r>
            <a:endParaRPr sz="1102" b="0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685F683-74A3-4DDD-B94D-B29539725378}"/>
              </a:ext>
            </a:extLst>
          </p:cNvPr>
          <p:cNvSpPr>
            <a:spLocks noGrp="1"/>
          </p:cNvSpPr>
          <p:nvPr/>
        </p:nvSpPr>
        <p:spPr>
          <a:xfrm>
            <a:off x="8715375" y="4733925"/>
            <a:ext cx="133350" cy="133350"/>
          </a:xfrm>
          <a:prstGeom prst="ellipse">
            <a:avLst/>
          </a:prstGeom>
          <a:noFill/>
          <a:ln w="1333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DF156D9-9502-42D5-96A4-18E952FB996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6.06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4CEA3A-275D-49D5-B7E8-BF4AEE01B548}"/>
              </a:ext>
            </a:extLst>
          </p:cNvPr>
          <p:cNvSpPr>
            <a:spLocks noGrp="1"/>
          </p:cNvSpPr>
          <p:nvPr/>
        </p:nvSpPr>
        <p:spPr>
          <a:xfrm>
            <a:off x="7781925" y="4956048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完成多线程安全、条件过滤与热更新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BBD7DF2-AA93-420D-AF88-E624857D696F}"/>
              </a:ext>
            </a:extLst>
          </p:cNvPr>
          <p:cNvSpPr>
            <a:spLocks noGrp="1"/>
          </p:cNvSpPr>
          <p:nvPr/>
        </p:nvSpPr>
        <p:spPr>
          <a:xfrm>
            <a:off x="10296525" y="4733925"/>
            <a:ext cx="133350" cy="133350"/>
          </a:xfrm>
          <a:prstGeom prst="ellipse">
            <a:avLst/>
          </a:prstGeom>
          <a:noFill/>
          <a:ln w="13335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4493BCD-9342-40E1-AD3C-B757628F3CCD}"/>
              </a:ext>
            </a:extLst>
          </p:cNvPr>
          <p:cNvSpPr>
            <a:spLocks noGrp="1"/>
          </p:cNvSpPr>
          <p:nvPr/>
        </p:nvSpPr>
        <p:spPr>
          <a:xfrm>
            <a:off x="9734550" y="45148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6.22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9242881-2DBA-48F8-9CAB-CAB622FC9618}"/>
              </a:ext>
            </a:extLst>
          </p:cNvPr>
          <p:cNvSpPr>
            <a:spLocks noGrp="1"/>
          </p:cNvSpPr>
          <p:nvPr/>
        </p:nvSpPr>
        <p:spPr>
          <a:xfrm>
            <a:off x="9408778" y="4206328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全部功能、测试与</a:t>
            </a:r>
            <a:r>
              <a:rPr sz="1102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benchmark </a:t>
            </a:r>
            <a:r>
              <a:rPr sz="1102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收口</a:t>
            </a:r>
            <a:endParaRPr sz="1102" b="0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0EBAEFB-F05F-4E0F-9F45-385FA1ADC1AC}"/>
              </a:ext>
            </a:extLst>
          </p:cNvPr>
          <p:cNvSpPr>
            <a:spLocks noGrp="1"/>
          </p:cNvSpPr>
          <p:nvPr/>
        </p:nvSpPr>
        <p:spPr>
          <a:xfrm>
            <a:off x="11096625" y="4733925"/>
            <a:ext cx="133350" cy="133350"/>
          </a:xfrm>
          <a:prstGeom prst="ellipse">
            <a:avLst/>
          </a:prstGeom>
          <a:noFill/>
          <a:ln w="13335">
            <a:solidFill>
              <a:srgbClr val="CF7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11D4CC7-0FB8-4328-AD36-618951EB1B5B}"/>
              </a:ext>
            </a:extLst>
          </p:cNvPr>
          <p:cNvSpPr>
            <a:spLocks noGrp="1"/>
          </p:cNvSpPr>
          <p:nvPr/>
        </p:nvSpPr>
        <p:spPr>
          <a:xfrm>
            <a:off x="10534650" y="45148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6.22-6.29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AE4725-C399-46A3-9074-5276D3E76A68}"/>
              </a:ext>
            </a:extLst>
          </p:cNvPr>
          <p:cNvSpPr>
            <a:spLocks noGrp="1"/>
          </p:cNvSpPr>
          <p:nvPr/>
        </p:nvSpPr>
        <p:spPr>
          <a:xfrm>
            <a:off x="10325100" y="4956048"/>
            <a:ext cx="1676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打磨报告、PPT 与提交材料</a:t>
            </a:r>
          </a:p>
        </p:txBody>
      </p:sp>
    </p:spTree>
    <p:extLst>
      <p:ext uri="{BB962C8B-B14F-4D97-AF65-F5344CB8AC3E}">
        <p14:creationId xmlns:p14="http://schemas.microsoft.com/office/powerpoint/2010/main" val="166971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6F0432D0-1642-446C-8901-89BD338F372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AI 辅助工具使用说明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9F2281-4A4B-447B-9B27-A988F492308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50B27-9468-49FD-A3C0-CE2903FAD1E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350" b="0">
                <a:solidFill>
                  <a:srgbClr val="111111"/>
                </a:solidFill>
                <a:latin typeface="Noto Sans CJK SC"/>
              </a:rPr>
              <a:t>开发和文档整理过程中使用过 AI 辅助工具，主要用于讨论改进方案、辅助编写重复性或规则明确的代码、整理测试清单和调整文档表述。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C48C73-6FE1-4A37-9E65-B77472E09038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BE7119-D43D-4067-B595-6E83CFFD4C4F}"/>
              </a:ext>
            </a:extLst>
          </p:cNvPr>
          <p:cNvSpPr>
            <a:spLocks noGrp="1"/>
          </p:cNvSpPr>
          <p:nvPr/>
        </p:nvSpPr>
        <p:spPr>
          <a:xfrm>
            <a:off x="3009900" y="18097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D34D95-58A5-4C1D-B9AD-EE5D2D70C93A}"/>
              </a:ext>
            </a:extLst>
          </p:cNvPr>
          <p:cNvSpPr>
            <a:spLocks noGrp="1"/>
          </p:cNvSpPr>
          <p:nvPr/>
        </p:nvSpPr>
        <p:spPr>
          <a:xfrm>
            <a:off x="1104900" y="18859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工具名称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50C200-8F31-429C-836E-0B23BBAC2534}"/>
              </a:ext>
            </a:extLst>
          </p:cNvPr>
          <p:cNvSpPr>
            <a:spLocks noGrp="1"/>
          </p:cNvSpPr>
          <p:nvPr/>
        </p:nvSpPr>
        <p:spPr>
          <a:xfrm>
            <a:off x="3219450" y="18859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OpenAI ChatGPT / Codex 类代码助手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EB4C36-9510-40F4-A05D-960A108E1E02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66F998-69EA-4486-9DF5-1DAB2412F071}"/>
              </a:ext>
            </a:extLst>
          </p:cNvPr>
          <p:cNvSpPr>
            <a:spLocks noGrp="1"/>
          </p:cNvSpPr>
          <p:nvPr/>
        </p:nvSpPr>
        <p:spPr>
          <a:xfrm>
            <a:off x="3009900" y="24193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58F48C-4958-4B09-8F6F-4F56313C7DED}"/>
              </a:ext>
            </a:extLst>
          </p:cNvPr>
          <p:cNvSpPr>
            <a:spLocks noGrp="1"/>
          </p:cNvSpPr>
          <p:nvPr/>
        </p:nvSpPr>
        <p:spPr>
          <a:xfrm>
            <a:off x="1104900" y="24955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模型名称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195FBE-ED70-4501-8161-6945D9E1BE87}"/>
              </a:ext>
            </a:extLst>
          </p:cNvPr>
          <p:cNvSpPr>
            <a:spLocks noGrp="1"/>
          </p:cNvSpPr>
          <p:nvPr/>
        </p:nvSpPr>
        <p:spPr>
          <a:xfrm>
            <a:off x="3219450" y="24955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OpenAI GPT-5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47819D-E87A-46D6-9022-E7BE0135FCCF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789DAA-DACD-44FE-AED7-96C2C39FB96C}"/>
              </a:ext>
            </a:extLst>
          </p:cNvPr>
          <p:cNvSpPr>
            <a:spLocks noGrp="1"/>
          </p:cNvSpPr>
          <p:nvPr/>
        </p:nvSpPr>
        <p:spPr>
          <a:xfrm>
            <a:off x="3009900" y="30289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D3D434-1066-4A9E-B106-7E7638BCD51B}"/>
              </a:ext>
            </a:extLst>
          </p:cNvPr>
          <p:cNvSpPr>
            <a:spLocks noGrp="1"/>
          </p:cNvSpPr>
          <p:nvPr/>
        </p:nvSpPr>
        <p:spPr>
          <a:xfrm>
            <a:off x="1104900" y="3105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使用范围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1D91DF-E3A7-4B2F-8A21-BCD48F2BEB59}"/>
              </a:ext>
            </a:extLst>
          </p:cNvPr>
          <p:cNvSpPr>
            <a:spLocks noGrp="1"/>
          </p:cNvSpPr>
          <p:nvPr/>
        </p:nvSpPr>
        <p:spPr>
          <a:xfrm>
            <a:off x="3219450" y="31051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改进方案讨论、重复性代码辅助、边界测试建议、benchmark 现象分析和文档措辞整理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2CF8CA-29F8-41ED-AAE4-E39A8AB5CD90}"/>
              </a:ext>
            </a:extLst>
          </p:cNvPr>
          <p:cNvSpPr>
            <a:spLocks noGrp="1"/>
          </p:cNvSpPr>
          <p:nvPr/>
        </p:nvSpPr>
        <p:spPr>
          <a:xfrm>
            <a:off x="914400" y="36385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F930A5-816C-44C4-98B4-1D83E9A92CD7}"/>
              </a:ext>
            </a:extLst>
          </p:cNvPr>
          <p:cNvSpPr>
            <a:spLocks noGrp="1"/>
          </p:cNvSpPr>
          <p:nvPr/>
        </p:nvSpPr>
        <p:spPr>
          <a:xfrm>
            <a:off x="3009900" y="36385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B6F113-32E8-4570-B102-E0D8520416EA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人工完成部分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FADAF6-0E57-494C-9A31-88227F6DDDFD}"/>
              </a:ext>
            </a:extLst>
          </p:cNvPr>
          <p:cNvSpPr>
            <a:spLocks noGrp="1"/>
          </p:cNvSpPr>
          <p:nvPr/>
        </p:nvSpPr>
        <p:spPr>
          <a:xfrm>
            <a:off x="3219450" y="37147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总体架构、关键机制设计、核心实现取舍、实验设计和最终结果解释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0FC01D-708E-4F3E-8059-017674136C0A}"/>
              </a:ext>
            </a:extLst>
          </p:cNvPr>
          <p:cNvSpPr>
            <a:spLocks noGrp="1"/>
          </p:cNvSpPr>
          <p:nvPr/>
        </p:nvSpPr>
        <p:spPr>
          <a:xfrm>
            <a:off x="914400" y="42481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72823F-D056-4E42-BA3A-D71CDDAE0F50}"/>
              </a:ext>
            </a:extLst>
          </p:cNvPr>
          <p:cNvSpPr>
            <a:spLocks noGrp="1"/>
          </p:cNvSpPr>
          <p:nvPr/>
        </p:nvSpPr>
        <p:spPr>
          <a:xfrm>
            <a:off x="3009900" y="42481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716B9-8739-42F0-A27D-DB330D2E0C8F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人工校验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9C1706F-91F1-4B87-BB02-C3FDC1256797}"/>
              </a:ext>
            </a:extLst>
          </p:cNvPr>
          <p:cNvSpPr>
            <a:spLocks noGrp="1"/>
          </p:cNvSpPr>
          <p:nvPr/>
        </p:nvSpPr>
        <p:spPr>
          <a:xfrm>
            <a:off x="3219450" y="43243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diff 审阅、构建、定向测试、全量测试、benchmark 和文档事实核对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CFA65A-99BB-4940-8C31-F2E5A72532EE}"/>
              </a:ext>
            </a:extLst>
          </p:cNvPr>
          <p:cNvSpPr>
            <a:spLocks noGrp="1"/>
          </p:cNvSpPr>
          <p:nvPr/>
        </p:nvSpPr>
        <p:spPr>
          <a:xfrm>
            <a:off x="914400" y="48577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7B9A4F1-084E-43A0-BA87-A2467CDEC706}"/>
              </a:ext>
            </a:extLst>
          </p:cNvPr>
          <p:cNvSpPr>
            <a:spLocks noGrp="1"/>
          </p:cNvSpPr>
          <p:nvPr/>
        </p:nvSpPr>
        <p:spPr>
          <a:xfrm>
            <a:off x="3009900" y="48577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172CFF-F8B3-4A81-A8B7-92891257DB2C}"/>
              </a:ext>
            </a:extLst>
          </p:cNvPr>
          <p:cNvSpPr>
            <a:spLocks noGrp="1"/>
          </p:cNvSpPr>
          <p:nvPr/>
        </p:nvSpPr>
        <p:spPr>
          <a:xfrm>
            <a:off x="1104900" y="49339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最终责任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CDF8D21-BAD0-4864-9E46-55498244FD59}"/>
              </a:ext>
            </a:extLst>
          </p:cNvPr>
          <p:cNvSpPr>
            <a:spLocks noGrp="1"/>
          </p:cNvSpPr>
          <p:nvPr/>
        </p:nvSpPr>
        <p:spPr>
          <a:xfrm>
            <a:off x="3219450" y="49339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团队负责方案确认、代码审阅、测试验证和最终提交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D309F0D-8F53-4224-985F-A1A20C4CF1A8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363200" cy="685800"/>
          </a:xfrm>
          <a:prstGeom prst="roundRect">
            <a:avLst>
              <a:gd name="adj" fmla="val 11111"/>
            </a:avLst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5B95973-953E-412A-908F-E08D4CD0939D}"/>
              </a:ext>
            </a:extLst>
          </p:cNvPr>
          <p:cNvSpPr>
            <a:spLocks noGrp="1"/>
          </p:cNvSpPr>
          <p:nvPr/>
        </p:nvSpPr>
        <p:spPr>
          <a:xfrm>
            <a:off x="1085850" y="5810250"/>
            <a:ext cx="10020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使用边界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95252BD-A465-49B0-A495-94466EA914E9}"/>
              </a:ext>
            </a:extLst>
          </p:cNvPr>
          <p:cNvSpPr>
            <a:spLocks noGrp="1"/>
          </p:cNvSpPr>
          <p:nvPr/>
        </p:nvSpPr>
        <p:spPr>
          <a:xfrm>
            <a:off x="1085850" y="6115050"/>
            <a:ext cx="10020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990" b="0">
                <a:solidFill>
                  <a:srgbClr val="111111"/>
                </a:solidFill>
                <a:latin typeface="Noto Sans CJK SC"/>
              </a:rPr>
              <a:t>本节只说明 AI 辅助工具的使用范围。AI 给出的建议需要经过团队重新整理、审阅和验证后才会进入仓库；项目实现和实验结论以自动化测试、benchmark 输出和提交记录为准。</a:t>
            </a:r>
          </a:p>
        </p:txBody>
      </p:sp>
    </p:spTree>
    <p:extLst>
      <p:ext uri="{BB962C8B-B14F-4D97-AF65-F5344CB8AC3E}">
        <p14:creationId xmlns:p14="http://schemas.microsoft.com/office/powerpoint/2010/main" val="597806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2226</Words>
  <Application>Microsoft Office PowerPoint</Application>
  <DocSecurity>0</DocSecurity>
  <PresentationFormat>宽屏</PresentationFormat>
  <Paragraphs>356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Noto Sans CJK SC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2737689596@qq.com</cp:lastModifiedBy>
  <cp:revision>3</cp:revision>
  <dcterms:created xsi:type="dcterms:W3CDTF">2026-06-29T13:49:37Z</dcterms:created>
  <dcterms:modified xsi:type="dcterms:W3CDTF">2026-06-29T14:30:28Z</dcterms:modified>
</cp:coreProperties>
</file>